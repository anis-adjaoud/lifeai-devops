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7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 i="0" spc="180">
                <a:solidFill>
                  <a:srgbClr val="8B7BF0"/>
                </a:solidFill>
                <a:latin typeface="Consolas"/>
              </a:rPr>
              <a:t>ESGI 4IABD2  ·  DEVOPS &amp; INFRASTRUCTURE AS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82009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 i="0">
                <a:solidFill>
                  <a:srgbClr val="EEEDF6"/>
                </a:solidFill>
                <a:latin typeface="Consolas"/>
              </a:rPr>
              <a:t>Industrialiser le déploiement
de LifeAI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749039"/>
            <a:ext cx="779046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9C9BBB"/>
                </a:solidFill>
                <a:latin typeface="Segoe UI"/>
              </a:rPr>
              <a:t>Passer d'un déploiement manuel — une suite de scripts bash lancés à la main — à un pipeline reproductible : infrastructure décrite en Terraform, déploiement continu par GitHub Actions, authentification sans clé.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956048"/>
            <a:ext cx="1527048" cy="310896"/>
          </a:xfrm>
          <a:prstGeom prst="roundRect">
            <a:avLst>
              <a:gd name="adj" fmla="val 500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 spc="60">
                <a:solidFill>
                  <a:srgbClr val="9C9BBB"/>
                </a:solidFill>
                <a:latin typeface="Consolas"/>
              </a:rPr>
              <a:t>Terraform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39" y="4956048"/>
            <a:ext cx="2121408" cy="310896"/>
          </a:xfrm>
          <a:prstGeom prst="roundRect">
            <a:avLst>
              <a:gd name="adj" fmla="val 500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 spc="60">
                <a:solidFill>
                  <a:srgbClr val="9C9BBB"/>
                </a:solidFill>
                <a:latin typeface="Consolas"/>
              </a:rPr>
              <a:t>GitHub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4956048"/>
            <a:ext cx="1883664" cy="310896"/>
          </a:xfrm>
          <a:prstGeom prst="roundRect">
            <a:avLst>
              <a:gd name="adj" fmla="val 500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 spc="60">
                <a:solidFill>
                  <a:srgbClr val="9C9BBB"/>
                </a:solidFill>
                <a:latin typeface="Consolas"/>
              </a:rPr>
              <a:t>Google Cloud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11696" y="4956048"/>
            <a:ext cx="3785616" cy="310896"/>
          </a:xfrm>
          <a:prstGeom prst="roundRect">
            <a:avLst>
              <a:gd name="adj" fmla="val 500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 spc="60">
                <a:solidFill>
                  <a:srgbClr val="9C9BBB"/>
                </a:solidFill>
                <a:latin typeface="Consolas"/>
              </a:rPr>
              <a:t>Workload Identity Federation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650992"/>
            <a:ext cx="10820095" cy="10972"/>
          </a:xfrm>
          <a:prstGeom prst="rect">
            <a:avLst/>
          </a:prstGeom>
          <a:solidFill>
            <a:srgbClr val="2B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833872"/>
            <a:ext cx="333237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1" i="0" spc="120">
                <a:solidFill>
                  <a:srgbClr val="8B7BF0"/>
                </a:solidFill>
                <a:latin typeface="Consolas"/>
              </a:rPr>
              <a:t>PROJET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080760"/>
            <a:ext cx="333237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9C9BBB"/>
                </a:solidFill>
                <a:latin typeface="Consolas"/>
              </a:rPr>
              <a:t>LifeAI — coach de santé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2498" y="5833872"/>
            <a:ext cx="333237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1" i="0" spc="120">
                <a:solidFill>
                  <a:srgbClr val="8B7BF0"/>
                </a:solidFill>
                <a:latin typeface="Consolas"/>
              </a:rPr>
              <a:t>REPO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2498" y="6080760"/>
            <a:ext cx="333237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9C9BBB"/>
                </a:solidFill>
                <a:latin typeface="Consolas"/>
              </a:rPr>
              <a:t>Anis-adjaoud/lifeai-devops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9196" y="5833872"/>
            <a:ext cx="333237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1" i="0" spc="120">
                <a:solidFill>
                  <a:srgbClr val="8B7BF0"/>
                </a:solidFill>
                <a:latin typeface="Consolas"/>
              </a:rPr>
              <a:t>PROJET GCP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9196" y="6080760"/>
            <a:ext cx="333237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9C9BBB"/>
                </a:solidFill>
                <a:latin typeface="Consolas"/>
              </a:rPr>
              <a:t>lifeai-devops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150">
                <a:solidFill>
                  <a:srgbClr val="8B7BF0"/>
                </a:solidFill>
                <a:latin typeface="Consolas"/>
              </a:rPr>
              <a:t>LE CONTEXTE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86384"/>
            <a:ext cx="10820095" cy="10972"/>
          </a:xfrm>
          <a:prstGeom prst="rect">
            <a:avLst/>
          </a:prstGeom>
          <a:solidFill>
            <a:srgbClr val="2B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 i="0">
                <a:solidFill>
                  <a:srgbClr val="EEEDF6"/>
                </a:solidFill>
                <a:latin typeface="Consolas"/>
              </a:rPr>
              <a:t>L'application à déployer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72784"/>
            <a:ext cx="12191695" cy="10972"/>
          </a:xfrm>
          <a:prstGeom prst="rect">
            <a:avLst/>
          </a:prstGeom>
          <a:solidFill>
            <a:srgbClr val="2B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64224"/>
            <a:ext cx="757406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00">
                <a:solidFill>
                  <a:srgbClr val="9C9BBB"/>
                </a:solidFill>
                <a:latin typeface="Consolas"/>
              </a:rPr>
              <a:t>LifeAI  ·  Pipeline DevOps &amp; IaC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636422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C9BBB"/>
                </a:solidFill>
                <a:latin typeface="Consola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01952"/>
            <a:ext cx="91970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9C9BBB"/>
                </a:solidFill>
                <a:latin typeface="Segoe UI"/>
              </a:rPr>
              <a:t>LifeAI synchronise les données Google Fit d'un utilisateur, les analyse via une architecture multi-agents, et restitue scores, conseils et alertes. Le sujet de cette présentation n'est pas l'application — c'est la façon dont on la met en production.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71800"/>
            <a:ext cx="2533573" cy="1371600"/>
          </a:xfrm>
          <a:prstGeom prst="roundRect">
            <a:avLst>
              <a:gd name="adj" fmla="val 45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6968" y="3154680"/>
            <a:ext cx="213123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 i="0" spc="120">
                <a:solidFill>
                  <a:srgbClr val="8B7BF0"/>
                </a:solidFill>
                <a:latin typeface="Consolas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447288"/>
            <a:ext cx="213123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9C9BBB"/>
                </a:solidFill>
                <a:latin typeface="Segoe UI"/>
              </a:rPr>
              <a:t>FastAPI · agents Google ADK · Gemini 2.5 Flash via Vertex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973" y="2971800"/>
            <a:ext cx="2533573" cy="1371600"/>
          </a:xfrm>
          <a:prstGeom prst="roundRect">
            <a:avLst>
              <a:gd name="adj" fmla="val 45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649141" y="3154680"/>
            <a:ext cx="213123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 i="0" spc="120">
                <a:solidFill>
                  <a:srgbClr val="8B7BF0"/>
                </a:solidFill>
                <a:latin typeface="Consolas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9141" y="3447288"/>
            <a:ext cx="213123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9C9BBB"/>
                </a:solidFill>
                <a:latin typeface="Segoe UI"/>
              </a:rPr>
              <a:t>React 18 + Vite, servi en statique par le même 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2971800"/>
            <a:ext cx="2533573" cy="1371600"/>
          </a:xfrm>
          <a:prstGeom prst="roundRect">
            <a:avLst>
              <a:gd name="adj" fmla="val 45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11315" y="3154680"/>
            <a:ext cx="213123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 i="0" spc="120">
                <a:solidFill>
                  <a:srgbClr val="8B7BF0"/>
                </a:solidFill>
                <a:latin typeface="Consolas"/>
              </a:rPr>
              <a:t>DONNÉES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1315" y="3447288"/>
            <a:ext cx="213123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9C9BBB"/>
                </a:solidFill>
                <a:latin typeface="Segoe UI"/>
              </a:rPr>
              <a:t>PostgreSQL 16 · modèles XGBoost embarqués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2321" y="2971800"/>
            <a:ext cx="2533573" cy="1371600"/>
          </a:xfrm>
          <a:prstGeom prst="roundRect">
            <a:avLst>
              <a:gd name="adj" fmla="val 45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73489" y="3154680"/>
            <a:ext cx="213123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 i="0" spc="120">
                <a:solidFill>
                  <a:srgbClr val="8B7BF0"/>
                </a:solidFill>
                <a:latin typeface="Consolas"/>
              </a:rPr>
              <a:t>EXTERNE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3489" y="3447288"/>
            <a:ext cx="213123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9C9BBB"/>
                </a:solidFill>
                <a:latin typeface="Segoe UI"/>
              </a:rPr>
              <a:t>Google Fit (OAuth2 PKCE) · Twilio WhatsApp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663440"/>
            <a:ext cx="10820095" cy="1234440"/>
          </a:xfrm>
          <a:prstGeom prst="roundRect">
            <a:avLst>
              <a:gd name="adj" fmla="val 4500"/>
            </a:avLst>
          </a:prstGeom>
          <a:solidFill>
            <a:srgbClr val="1C2044"/>
          </a:solidFill>
          <a:ln w="12700">
            <a:solidFill>
              <a:srgbClr val="8B7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0120" y="4882896"/>
            <a:ext cx="102714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EEEDF6"/>
                </a:solidFill>
                <a:latin typeface="Segoe UI"/>
              </a:rPr>
              <a:t>Backend et frontend tiennent dans une seule image Docker multi-stage, servie par un seul service Cloud Run : une architecture à deux origines cassait les cookies de session sur les rewrites Firebase Hosting.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150">
                <a:solidFill>
                  <a:srgbClr val="8B7BF0"/>
                </a:solidFill>
                <a:latin typeface="Consolas"/>
              </a:rPr>
              <a:t>LE POINT DE DÉPART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86384"/>
            <a:ext cx="10820095" cy="10972"/>
          </a:xfrm>
          <a:prstGeom prst="rect">
            <a:avLst/>
          </a:prstGeom>
          <a:solidFill>
            <a:srgbClr val="2B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 i="0">
                <a:solidFill>
                  <a:srgbClr val="EEEDF6"/>
                </a:solidFill>
                <a:latin typeface="Consolas"/>
              </a:rPr>
              <a:t>Six scripts bash et beaucoup de discipline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72784"/>
            <a:ext cx="12191695" cy="10972"/>
          </a:xfrm>
          <a:prstGeom prst="rect">
            <a:avLst/>
          </a:prstGeom>
          <a:solidFill>
            <a:srgbClr val="2B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64224"/>
            <a:ext cx="757406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00">
                <a:solidFill>
                  <a:srgbClr val="9C9BBB"/>
                </a:solidFill>
                <a:latin typeface="Consolas"/>
              </a:rPr>
              <a:t>LifeAI  ·  Pipeline DevOps &amp; IaC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636422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C9BBB"/>
                </a:solidFill>
                <a:latin typeface="Consola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5085444" cy="2057400"/>
          </a:xfrm>
          <a:prstGeom prst="roundRect">
            <a:avLst>
              <a:gd name="adj" fmla="val 4500"/>
            </a:avLst>
          </a:prstGeom>
          <a:solidFill>
            <a:srgbClr val="1C2044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05256" y="2141524"/>
            <a:ext cx="4646532" cy="17501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050" b="0" i="0">
                <a:solidFill>
                  <a:srgbClr val="9C9BBB"/>
                </a:solidFill>
                <a:latin typeface="Consolas"/>
              </a:rPr>
              <a:t># Le déploiement d'origine, à la main</a:t>
            </a:r>
          </a:p>
          <a:p>
            <a:pPr>
              <a:lnSpc>
                <a:spcPct val="132000"/>
              </a:lnSpc>
            </a:pPr>
            <a:r>
              <a:rPr sz="1050" b="0" i="0">
                <a:solidFill>
                  <a:srgbClr val="EEEDF6"/>
                </a:solidFill>
                <a:latin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 b="0" i="0">
                <a:solidFill>
                  <a:srgbClr val="EEEDF6"/>
                </a:solidFill>
                <a:latin typeface="Consolas"/>
              </a:rPr>
              <a:t>./deploy/00_setup_gcp.sh</a:t>
            </a:r>
            <a:r>
              <a:rPr sz="1050" b="0" i="0">
                <a:solidFill>
                  <a:srgbClr val="9C9BBB"/>
                </a:solidFill>
                <a:latin typeface="Consolas"/>
              </a:rPr>
              <a:t>        # APIs + registry</a:t>
            </a:r>
          </a:p>
          <a:p>
            <a:pPr>
              <a:lnSpc>
                <a:spcPct val="132000"/>
              </a:lnSpc>
            </a:pPr>
            <a:r>
              <a:rPr sz="1050" b="0" i="0">
                <a:solidFill>
                  <a:srgbClr val="EEEDF6"/>
                </a:solidFill>
                <a:latin typeface="Consolas"/>
              </a:rPr>
              <a:t>./deploy/01_setup_db_vm.sh</a:t>
            </a:r>
            <a:r>
              <a:rPr sz="1050" b="0" i="0">
                <a:solidFill>
                  <a:srgbClr val="9C9BBB"/>
                </a:solidFill>
                <a:latin typeface="Consolas"/>
              </a:rPr>
              <a:t>      # VM Postgres</a:t>
            </a:r>
          </a:p>
          <a:p>
            <a:pPr>
              <a:lnSpc>
                <a:spcPct val="132000"/>
              </a:lnSpc>
            </a:pPr>
            <a:r>
              <a:rPr sz="1050" b="0" i="0">
                <a:solidFill>
                  <a:srgbClr val="EEEDF6"/>
                </a:solidFill>
                <a:latin typeface="Consolas"/>
              </a:rPr>
              <a:t>./deploy/02_secrets.sh</a:t>
            </a:r>
            <a:r>
              <a:rPr sz="1050" b="0" i="0">
                <a:solidFill>
                  <a:srgbClr val="9C9BBB"/>
                </a:solidFill>
                <a:latin typeface="Consolas"/>
              </a:rPr>
              <a:t>          # Secret Manager</a:t>
            </a:r>
          </a:p>
          <a:p>
            <a:pPr>
              <a:lnSpc>
                <a:spcPct val="132000"/>
              </a:lnSpc>
            </a:pPr>
            <a:r>
              <a:rPr sz="1050" b="0" i="0">
                <a:solidFill>
                  <a:srgbClr val="EEEDF6"/>
                </a:solidFill>
                <a:latin typeface="Consolas"/>
              </a:rPr>
              <a:t>./deploy/03_build.sh</a:t>
            </a:r>
            <a:r>
              <a:rPr sz="1050" b="0" i="0">
                <a:solidFill>
                  <a:srgbClr val="9C9BBB"/>
                </a:solidFill>
                <a:latin typeface="Consolas"/>
              </a:rPr>
              <a:t>            # build image</a:t>
            </a:r>
          </a:p>
          <a:p>
            <a:pPr>
              <a:lnSpc>
                <a:spcPct val="132000"/>
              </a:lnSpc>
            </a:pPr>
            <a:r>
              <a:rPr sz="1050" b="0" i="0">
                <a:solidFill>
                  <a:srgbClr val="EEEDF6"/>
                </a:solidFill>
                <a:latin typeface="Consolas"/>
              </a:rPr>
              <a:t>./deploy/04_deploy.sh</a:t>
            </a:r>
            <a:r>
              <a:rPr sz="1050" b="0" i="0">
                <a:solidFill>
                  <a:srgbClr val="9C9BBB"/>
                </a:solidFill>
                <a:latin typeface="Consolas"/>
              </a:rPr>
              <a:t>           # gcloud run deploy</a:t>
            </a:r>
          </a:p>
          <a:p>
            <a:pPr>
              <a:lnSpc>
                <a:spcPct val="132000"/>
              </a:lnSpc>
            </a:pPr>
            <a:r>
              <a:rPr sz="1050" b="0" i="0">
                <a:solidFill>
                  <a:srgbClr val="EEEDF6"/>
                </a:solidFill>
                <a:latin typeface="Consolas"/>
              </a:rPr>
              <a:t>./deploy/05_setup_scheduler.sh</a:t>
            </a:r>
            <a:r>
              <a:rPr sz="1050" b="0" i="0">
                <a:solidFill>
                  <a:srgbClr val="9C9BBB"/>
                </a:solidFill>
                <a:latin typeface="Consolas"/>
              </a:rPr>
              <a:t>  # cron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97680"/>
            <a:ext cx="50854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1">
                <a:solidFill>
                  <a:srgbClr val="EEEDF6"/>
                </a:solidFill>
                <a:latin typeface="Segoe UI"/>
              </a:rPr>
              <a:t>Ça fonctionne. Le problème n'est pas le résultat, c'est l'absence de garanties.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1284" y="1965960"/>
            <a:ext cx="5414610" cy="914400"/>
          </a:xfrm>
          <a:prstGeom prst="roundRect">
            <a:avLst>
              <a:gd name="adj" fmla="val 45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92452" y="2148840"/>
            <a:ext cx="501227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 i="0" spc="120">
                <a:solidFill>
                  <a:srgbClr val="F0906F"/>
                </a:solidFill>
                <a:latin typeface="Consolas"/>
              </a:rPr>
              <a:t>PAS D'ÉTAT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2452" y="2441448"/>
            <a:ext cx="50122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9C9BBB"/>
                </a:solidFill>
                <a:latin typeface="Segoe UI"/>
              </a:rPr>
              <a:t>Impossible de savoir ce qui existe réellement sans relire chaque script.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1284" y="3026663"/>
            <a:ext cx="5414610" cy="914400"/>
          </a:xfrm>
          <a:prstGeom prst="roundRect">
            <a:avLst>
              <a:gd name="adj" fmla="val 45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2452" y="3209544"/>
            <a:ext cx="501227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 i="0" spc="120">
                <a:solidFill>
                  <a:srgbClr val="F0906F"/>
                </a:solidFill>
                <a:latin typeface="Consolas"/>
              </a:rPr>
              <a:t>IDEMPOTENCE À LA 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2452" y="3502151"/>
            <a:ext cx="50122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9C9BBB"/>
                </a:solidFill>
                <a:latin typeface="Segoe UI"/>
              </a:rPr>
              <a:t>Chaque script réimplémente sa propre garde « si n'existe pas, créer ».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1284" y="4087368"/>
            <a:ext cx="5414610" cy="914400"/>
          </a:xfrm>
          <a:prstGeom prst="roundRect">
            <a:avLst>
              <a:gd name="adj" fmla="val 45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92452" y="4270248"/>
            <a:ext cx="501227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 i="0" spc="120">
                <a:solidFill>
                  <a:srgbClr val="F0906F"/>
                </a:solidFill>
                <a:latin typeface="Consolas"/>
              </a:rPr>
              <a:t>DÉRIVE SILENCIEUSE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2452" y="4562856"/>
            <a:ext cx="50122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9C9BBB"/>
                </a:solidFill>
                <a:latin typeface="Segoe UI"/>
              </a:rPr>
              <a:t>Une modification manuelle en console diverge sans que rien ne le signale.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1284" y="5148071"/>
            <a:ext cx="5414610" cy="914400"/>
          </a:xfrm>
          <a:prstGeom prst="roundRect">
            <a:avLst>
              <a:gd name="adj" fmla="val 45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292452" y="5330951"/>
            <a:ext cx="501227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 i="0" spc="120">
                <a:solidFill>
                  <a:srgbClr val="F0906F"/>
                </a:solidFill>
                <a:latin typeface="Consolas"/>
              </a:rPr>
              <a:t>PAS DE REVUE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2452" y="5623559"/>
            <a:ext cx="501227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9C9BBB"/>
                </a:solidFill>
                <a:latin typeface="Segoe UI"/>
              </a:rPr>
              <a:t>Un changement d'infra ne se relit pas sous forme de diff.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150">
                <a:solidFill>
                  <a:srgbClr val="8B7BF0"/>
                </a:solidFill>
                <a:latin typeface="Consolas"/>
              </a:rPr>
              <a:t>DÉCISION PRÉALABLE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86384"/>
            <a:ext cx="10820095" cy="10972"/>
          </a:xfrm>
          <a:prstGeom prst="rect">
            <a:avLst/>
          </a:prstGeom>
          <a:solidFill>
            <a:srgbClr val="2B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 i="0">
                <a:solidFill>
                  <a:srgbClr val="EEEDF6"/>
                </a:solidFill>
                <a:latin typeface="Consolas"/>
              </a:rPr>
              <a:t>Tout isoler avant d'automatiser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72784"/>
            <a:ext cx="12191695" cy="10972"/>
          </a:xfrm>
          <a:prstGeom prst="rect">
            <a:avLst/>
          </a:prstGeom>
          <a:solidFill>
            <a:srgbClr val="2B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64224"/>
            <a:ext cx="757406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00">
                <a:solidFill>
                  <a:srgbClr val="9C9BBB"/>
                </a:solidFill>
                <a:latin typeface="Consolas"/>
              </a:rPr>
              <a:t>LifeAI  ·  Pipeline DevOps &amp; IaC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636422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C9BBB"/>
                </a:solidFill>
                <a:latin typeface="Consola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9197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9C9BBB"/>
                </a:solidFill>
                <a:latin typeface="Segoe UI"/>
              </a:rPr>
              <a:t>Le repo et le projet GCP d'origine sont partagés avec l'équipe. Y expérimenter un pipeline CI/CD, c'est risquer de casser une démo à chaque erreur de configuration.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670048"/>
            <a:ext cx="2523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 i="0" spc="120">
                <a:solidFill>
                  <a:srgbClr val="9C9BBB"/>
                </a:solidFill>
                <a:latin typeface="Consola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5304" y="2670048"/>
            <a:ext cx="38953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 i="0" spc="120">
                <a:solidFill>
                  <a:srgbClr val="9C9BBB"/>
                </a:solidFill>
                <a:latin typeface="Consolas"/>
              </a:rPr>
              <a:t>PROJET D'ORIGINE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0104" y="2670048"/>
            <a:ext cx="37398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 i="0" spc="120">
                <a:solidFill>
                  <a:srgbClr val="9C9BBB"/>
                </a:solidFill>
                <a:latin typeface="Consolas"/>
              </a:rPr>
              <a:t>CE PROJET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960827"/>
            <a:ext cx="10820095" cy="10972"/>
          </a:xfrm>
          <a:prstGeom prst="rect">
            <a:avLst/>
          </a:prstGeom>
          <a:solidFill>
            <a:srgbClr val="2B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3090672"/>
            <a:ext cx="2523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EEDF6"/>
                </a:solidFill>
                <a:latin typeface="Segoe UI"/>
              </a:rPr>
              <a:t>Repo 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5304" y="3090672"/>
            <a:ext cx="38953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EEDF6"/>
                </a:solidFill>
                <a:latin typeface="Consolas"/>
              </a:rPr>
              <a:t>Sara-Ammi/Projet-Annuel…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0104" y="3090672"/>
            <a:ext cx="37398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EEDF6"/>
                </a:solidFill>
                <a:latin typeface="Consolas"/>
              </a:rPr>
              <a:t>Anis-adjaoud/lifeai-devops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447288"/>
            <a:ext cx="10820095" cy="475488"/>
          </a:xfrm>
          <a:prstGeom prst="rect">
            <a:avLst/>
          </a:prstGeom>
          <a:solidFill>
            <a:srgbClr val="15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3566160"/>
            <a:ext cx="2523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EEDF6"/>
                </a:solidFill>
                <a:latin typeface="Segoe UI"/>
              </a:rPr>
              <a:t>Projet GCP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5304" y="3566160"/>
            <a:ext cx="38953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EEDF6"/>
                </a:solidFill>
                <a:latin typeface="Consolas"/>
              </a:rPr>
              <a:t>lifeai-498618  (org. partagée)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0104" y="3566160"/>
            <a:ext cx="37398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EEDF6"/>
                </a:solidFill>
                <a:latin typeface="Consolas"/>
              </a:rPr>
              <a:t>lifeai-devops  (standalone)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" y="4041648"/>
            <a:ext cx="2523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EEDF6"/>
                </a:solidFill>
                <a:latin typeface="Segoe UI"/>
              </a:rPr>
              <a:t>Base de données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5304" y="4041648"/>
            <a:ext cx="38953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EEDF6"/>
                </a:solidFill>
                <a:latin typeface="Segoe UI"/>
              </a:rPr>
              <a:t>VM Postgres de l'équipe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0104" y="4041648"/>
            <a:ext cx="37398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EEDF6"/>
                </a:solidFill>
                <a:latin typeface="Segoe UI"/>
              </a:rPr>
              <a:t>VM dédiée, données de démo propres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398264"/>
            <a:ext cx="10820095" cy="475488"/>
          </a:xfrm>
          <a:prstGeom prst="rect">
            <a:avLst/>
          </a:prstGeom>
          <a:solidFill>
            <a:srgbClr val="15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517136"/>
            <a:ext cx="2523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EEDF6"/>
                </a:solidFill>
                <a:latin typeface="Segoe UI"/>
              </a:rPr>
              <a:t>Client OAuth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75304" y="4517136"/>
            <a:ext cx="38953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EEDF6"/>
                </a:solidFill>
                <a:latin typeface="Segoe UI"/>
              </a:rPr>
              <a:t>Partagé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0104" y="4517136"/>
            <a:ext cx="37398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EEDF6"/>
                </a:solidFill>
                <a:latin typeface="Segoe UI"/>
              </a:rPr>
              <a:t>Client dédié au projet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" y="4992624"/>
            <a:ext cx="2523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EEDF6"/>
                </a:solidFill>
                <a:latin typeface="Segoe UI"/>
              </a:rPr>
              <a:t>Déploiement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75304" y="4992624"/>
            <a:ext cx="38953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EEDF6"/>
                </a:solidFill>
                <a:latin typeface="Segoe UI"/>
              </a:rPr>
              <a:t>Scripts bash manuels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0104" y="4992624"/>
            <a:ext cx="37398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EEDF6"/>
                </a:solidFill>
                <a:latin typeface="Segoe UI"/>
              </a:rPr>
              <a:t>Terraform + GitHub Actions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504688"/>
            <a:ext cx="10820095" cy="658368"/>
          </a:xfrm>
          <a:prstGeom prst="roundRect">
            <a:avLst>
              <a:gd name="adj" fmla="val 4500"/>
            </a:avLst>
          </a:prstGeom>
          <a:solidFill>
            <a:srgbClr val="1C2044"/>
          </a:solidFill>
          <a:ln w="12700">
            <a:solidFill>
              <a:srgbClr val="4ACB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60120" y="5705856"/>
            <a:ext cx="102714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4ACBB9"/>
                </a:solidFill>
                <a:latin typeface="Consolas"/>
              </a:rPr>
              <a:t>Aucune ressource partagée : une erreur ici ne peut pas atteindre le projet noté.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150">
                <a:solidFill>
                  <a:srgbClr val="8B7BF0"/>
                </a:solidFill>
                <a:latin typeface="Consolas"/>
              </a:rPr>
              <a:t>ARCHITECTURE CIBLE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86384"/>
            <a:ext cx="10820095" cy="10972"/>
          </a:xfrm>
          <a:prstGeom prst="rect">
            <a:avLst/>
          </a:prstGeom>
          <a:solidFill>
            <a:srgbClr val="2B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 i="0">
                <a:solidFill>
                  <a:srgbClr val="EEEDF6"/>
                </a:solidFill>
                <a:latin typeface="Consolas"/>
              </a:rPr>
              <a:t>Du git push à la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72784"/>
            <a:ext cx="12191695" cy="10972"/>
          </a:xfrm>
          <a:prstGeom prst="rect">
            <a:avLst/>
          </a:prstGeom>
          <a:solidFill>
            <a:srgbClr val="2B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64224"/>
            <a:ext cx="757406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00">
                <a:solidFill>
                  <a:srgbClr val="9C9BBB"/>
                </a:solidFill>
                <a:latin typeface="Consolas"/>
              </a:rPr>
              <a:t>LifeAI  ·  Pipeline DevOps &amp; IaC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636422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C9BBB"/>
                </a:solidFill>
                <a:latin typeface="Consola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10820095" cy="1207008"/>
          </a:xfrm>
          <a:prstGeom prst="roundRect">
            <a:avLst>
              <a:gd name="adj" fmla="val 45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05256" y="193852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1" i="0" spc="120">
                <a:solidFill>
                  <a:srgbClr val="9C9BBB"/>
                </a:solidFill>
                <a:latin typeface="Consolas"/>
              </a:rPr>
              <a:t>GITHUB — ANIS-ADJAOUD/LIFEAI-DEVOPS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" y="2240280"/>
            <a:ext cx="3350666" cy="621792"/>
          </a:xfrm>
          <a:prstGeom prst="roundRect">
            <a:avLst>
              <a:gd name="adj" fmla="val 4500"/>
            </a:avLst>
          </a:prstGeom>
          <a:solidFill>
            <a:srgbClr val="0D0F1C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51560" y="2359152"/>
            <a:ext cx="305805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>
                <a:solidFill>
                  <a:srgbClr val="EEEDF6"/>
                </a:solidFill>
                <a:latin typeface="Consolas"/>
              </a:rPr>
              <a:t>Repo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624328"/>
            <a:ext cx="305805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9C9BBB"/>
                </a:solidFill>
                <a:latin typeface="Segoe UI"/>
              </a:rPr>
              <a:t>push sur main · filtres de chemins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0514" y="2240280"/>
            <a:ext cx="3350666" cy="621792"/>
          </a:xfrm>
          <a:prstGeom prst="roundRect">
            <a:avLst>
              <a:gd name="adj" fmla="val 4500"/>
            </a:avLst>
          </a:prstGeom>
          <a:solidFill>
            <a:srgbClr val="0D0F1C"/>
          </a:solidFill>
          <a:ln w="12700">
            <a:solidFill>
              <a:srgbClr val="8B7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66818" y="2359152"/>
            <a:ext cx="305805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>
                <a:solidFill>
                  <a:srgbClr val="EEEDF6"/>
                </a:solidFill>
                <a:latin typeface="Consolas"/>
              </a:rPr>
              <a:t>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6818" y="2624328"/>
            <a:ext cx="305805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9C9BBB"/>
                </a:solidFill>
                <a:latin typeface="Segoe UI"/>
              </a:rPr>
              <a:t>prepare-registry → build → deploy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5772" y="2240280"/>
            <a:ext cx="3350666" cy="621792"/>
          </a:xfrm>
          <a:prstGeom prst="roundRect">
            <a:avLst>
              <a:gd name="adj" fmla="val 4500"/>
            </a:avLst>
          </a:prstGeom>
          <a:solidFill>
            <a:srgbClr val="0D0F1C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82076" y="2359152"/>
            <a:ext cx="305805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>
                <a:solidFill>
                  <a:srgbClr val="EEEDF6"/>
                </a:solidFill>
                <a:latin typeface="Consolas"/>
              </a:rPr>
              <a:t>Secrets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2076" y="2624328"/>
            <a:ext cx="305805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9C9BBB"/>
                </a:solidFill>
                <a:latin typeface="Segoe UI"/>
              </a:rPr>
              <a:t>6 secrets, dont 3 en TF_VAR_*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09067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050" b="0" i="0">
                <a:solidFill>
                  <a:srgbClr val="8B7BF0"/>
                </a:solidFill>
                <a:latin typeface="Consolas"/>
              </a:rPr>
              <a:t>↓   authentification OIDC keyless — aucune clé de service account   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56432"/>
            <a:ext cx="10820095" cy="1874519"/>
          </a:xfrm>
          <a:prstGeom prst="roundRect">
            <a:avLst>
              <a:gd name="adj" fmla="val 4500"/>
            </a:avLst>
          </a:prstGeom>
          <a:solidFill>
            <a:srgbClr val="1C2044"/>
          </a:solidFill>
          <a:ln w="12700">
            <a:solidFill>
              <a:srgbClr val="8B7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05256" y="36118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1" i="0" spc="120">
                <a:solidFill>
                  <a:srgbClr val="8B7BF0"/>
                </a:solidFill>
                <a:latin typeface="Consolas"/>
              </a:rPr>
              <a:t>PROJET GCP — LIFEAI-DEVOPS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" y="3913632"/>
            <a:ext cx="3362858" cy="603504"/>
          </a:xfrm>
          <a:prstGeom prst="roundRect">
            <a:avLst>
              <a:gd name="adj" fmla="val 4500"/>
            </a:avLst>
          </a:prstGeom>
          <a:solidFill>
            <a:srgbClr val="0D0F1C"/>
          </a:solidFill>
          <a:ln w="12700">
            <a:solidFill>
              <a:srgbClr val="8B7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51560" y="4032504"/>
            <a:ext cx="307025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>
                <a:solidFill>
                  <a:srgbClr val="EEEDF6"/>
                </a:solidFill>
                <a:latin typeface="Consolas"/>
              </a:rPr>
              <a:t>Cloud 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297680"/>
            <a:ext cx="307025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9C9BBB"/>
                </a:solidFill>
                <a:latin typeface="Segoe UI"/>
              </a:rPr>
              <a:t>lifeai-api · scale 0→3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14418" y="3913632"/>
            <a:ext cx="3362858" cy="603504"/>
          </a:xfrm>
          <a:prstGeom prst="roundRect">
            <a:avLst>
              <a:gd name="adj" fmla="val 4500"/>
            </a:avLst>
          </a:prstGeom>
          <a:solidFill>
            <a:srgbClr val="0D0F1C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560722" y="4032504"/>
            <a:ext cx="307025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>
                <a:solidFill>
                  <a:srgbClr val="EEEDF6"/>
                </a:solidFill>
                <a:latin typeface="Consolas"/>
              </a:rPr>
              <a:t>Artifact Registry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0722" y="4297680"/>
            <a:ext cx="307025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9C9BBB"/>
                </a:solidFill>
                <a:latin typeface="Segoe UI"/>
              </a:rPr>
              <a:t>image taggée par SHA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23580" y="3913632"/>
            <a:ext cx="3362858" cy="603504"/>
          </a:xfrm>
          <a:prstGeom prst="roundRect">
            <a:avLst>
              <a:gd name="adj" fmla="val 4500"/>
            </a:avLst>
          </a:prstGeom>
          <a:solidFill>
            <a:srgbClr val="0D0F1C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069884" y="4032504"/>
            <a:ext cx="307025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>
                <a:solidFill>
                  <a:srgbClr val="EEEDF6"/>
                </a:solidFill>
                <a:latin typeface="Consolas"/>
              </a:rPr>
              <a:t>Secret Manager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9884" y="4297680"/>
            <a:ext cx="307025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9C9BBB"/>
                </a:solidFill>
                <a:latin typeface="Segoe UI"/>
              </a:rPr>
              <a:t>6 secrets au runtime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" y="4608576"/>
            <a:ext cx="3362858" cy="603504"/>
          </a:xfrm>
          <a:prstGeom prst="roundRect">
            <a:avLst>
              <a:gd name="adj" fmla="val 4500"/>
            </a:avLst>
          </a:prstGeom>
          <a:solidFill>
            <a:srgbClr val="0D0F1C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51560" y="4727448"/>
            <a:ext cx="307025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>
                <a:solidFill>
                  <a:srgbClr val="EEEDF6"/>
                </a:solidFill>
                <a:latin typeface="Consolas"/>
              </a:rPr>
              <a:t>Compute 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992624"/>
            <a:ext cx="307025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9C9BBB"/>
                </a:solidFill>
                <a:latin typeface="Segoe UI"/>
              </a:rPr>
              <a:t>e2-micro · Postgres 16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14418" y="4608576"/>
            <a:ext cx="3362858" cy="603504"/>
          </a:xfrm>
          <a:prstGeom prst="roundRect">
            <a:avLst>
              <a:gd name="adj" fmla="val 4500"/>
            </a:avLst>
          </a:prstGeom>
          <a:solidFill>
            <a:srgbClr val="0D0F1C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60722" y="4727448"/>
            <a:ext cx="307025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>
                <a:solidFill>
                  <a:srgbClr val="EEEDF6"/>
                </a:solidFill>
                <a:latin typeface="Consolas"/>
              </a:rPr>
              <a:t>Cloud Scheduler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60722" y="4992624"/>
            <a:ext cx="307025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9C9BBB"/>
                </a:solidFill>
                <a:latin typeface="Segoe UI"/>
              </a:rPr>
              <a:t>sync Fit — 07:00 Paris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23580" y="4608576"/>
            <a:ext cx="3362858" cy="603504"/>
          </a:xfrm>
          <a:prstGeom prst="roundRect">
            <a:avLst>
              <a:gd name="adj" fmla="val 4500"/>
            </a:avLst>
          </a:prstGeom>
          <a:solidFill>
            <a:srgbClr val="0D0F1C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069884" y="4727448"/>
            <a:ext cx="307025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>
                <a:solidFill>
                  <a:srgbClr val="EEEDF6"/>
                </a:solidFill>
                <a:latin typeface="Consolas"/>
              </a:rPr>
              <a:t>Cloud Storage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69884" y="4992624"/>
            <a:ext cx="307025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9C9BBB"/>
                </a:solidFill>
                <a:latin typeface="Segoe UI"/>
              </a:rPr>
              <a:t>state Terraform versionné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4406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050" b="0" i="0">
                <a:solidFill>
                  <a:srgbClr val="9C9BBB"/>
                </a:solidFill>
                <a:latin typeface="Consolas"/>
              </a:rPr>
              <a:t>Cloud Run → VM : Direct VPC egress · port 5432 fermé à l'internet public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5806440"/>
            <a:ext cx="3049524" cy="310896"/>
          </a:xfrm>
          <a:prstGeom prst="roundRect">
            <a:avLst>
              <a:gd name="adj" fmla="val 500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 spc="60">
                <a:solidFill>
                  <a:srgbClr val="9C9BBB"/>
                </a:solidFill>
                <a:latin typeface="Consolas"/>
              </a:rPr>
              <a:t>Google OAuth — client dédié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918204" y="5806440"/>
            <a:ext cx="1897380" cy="310896"/>
          </a:xfrm>
          <a:prstGeom prst="roundRect">
            <a:avLst>
              <a:gd name="adj" fmla="val 500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 spc="60">
                <a:solidFill>
                  <a:srgbClr val="9C9BBB"/>
                </a:solidFill>
                <a:latin typeface="Consolas"/>
              </a:rPr>
              <a:t>Twilio WhatsApp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98464" y="5806440"/>
            <a:ext cx="2185415" cy="310896"/>
          </a:xfrm>
          <a:prstGeom prst="roundRect">
            <a:avLst>
              <a:gd name="adj" fmla="val 500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 spc="60">
                <a:solidFill>
                  <a:srgbClr val="9C9BBB"/>
                </a:solidFill>
                <a:latin typeface="Consolas"/>
              </a:rPr>
              <a:t>Vertex AI — Gemini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150">
                <a:solidFill>
                  <a:srgbClr val="8B7BF0"/>
                </a:solidFill>
                <a:latin typeface="Consolas"/>
              </a:rPr>
              <a:t>INFRASTRUCTURE AS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86384"/>
            <a:ext cx="10820095" cy="10972"/>
          </a:xfrm>
          <a:prstGeom prst="rect">
            <a:avLst/>
          </a:prstGeom>
          <a:solidFill>
            <a:srgbClr val="2B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 i="0">
                <a:solidFill>
                  <a:srgbClr val="EEEDF6"/>
                </a:solidFill>
                <a:latin typeface="Consolas"/>
              </a:rPr>
              <a:t>Terraform gère l'infrastructure entière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72784"/>
            <a:ext cx="12191695" cy="10972"/>
          </a:xfrm>
          <a:prstGeom prst="rect">
            <a:avLst/>
          </a:prstGeom>
          <a:solidFill>
            <a:srgbClr val="2B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64224"/>
            <a:ext cx="757406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00">
                <a:solidFill>
                  <a:srgbClr val="9C9BBB"/>
                </a:solidFill>
                <a:latin typeface="Consolas"/>
              </a:rPr>
              <a:t>LifeAI  ·  Pipeline DevOps &amp; IaC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636422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C9BBB"/>
                </a:solidFill>
                <a:latin typeface="Consola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01952"/>
            <a:ext cx="4977243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9C9BBB"/>
                </a:solidFill>
                <a:latin typeface="Segoe UI"/>
              </a:rPr>
              <a:t>Le projet étant créé de zéro, aucun terraform import n'a été nécessaire : chaque ressource est née déclarative.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834640"/>
            <a:ext cx="2397181" cy="1143000"/>
          </a:xfrm>
          <a:prstGeom prst="roundRect">
            <a:avLst>
              <a:gd name="adj" fmla="val 45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6968" y="2999232"/>
            <a:ext cx="199484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1" i="0">
                <a:solidFill>
                  <a:srgbClr val="8B7BF0"/>
                </a:solidFill>
                <a:latin typeface="Consolas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547872"/>
            <a:ext cx="199484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C9BBB"/>
                </a:solidFill>
                <a:latin typeface="Segoe UI"/>
              </a:rPr>
              <a:t>fichiers .tf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65861" y="2834640"/>
            <a:ext cx="2397181" cy="1143000"/>
          </a:xfrm>
          <a:prstGeom prst="roundRect">
            <a:avLst>
              <a:gd name="adj" fmla="val 45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467029" y="2999232"/>
            <a:ext cx="199484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1" i="0">
                <a:solidFill>
                  <a:srgbClr val="4ACBB9"/>
                </a:solidFill>
                <a:latin typeface="Consolas"/>
              </a:rPr>
              <a:t>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7029" y="3547872"/>
            <a:ext cx="199484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C9BBB"/>
                </a:solidFill>
                <a:latin typeface="Segoe UI"/>
              </a:rPr>
              <a:t>ressources gérées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142232"/>
            <a:ext cx="2397181" cy="1143000"/>
          </a:xfrm>
          <a:prstGeom prst="roundRect">
            <a:avLst>
              <a:gd name="adj" fmla="val 45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86968" y="4306824"/>
            <a:ext cx="199484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1" i="0">
                <a:solidFill>
                  <a:srgbClr val="EEEDF6"/>
                </a:solidFill>
                <a:latin typeface="Consola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855464"/>
            <a:ext cx="199484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C9BBB"/>
                </a:solidFill>
                <a:latin typeface="Segoe UI"/>
              </a:rPr>
              <a:t>script bash restant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65861" y="4142232"/>
            <a:ext cx="2397181" cy="1143000"/>
          </a:xfrm>
          <a:prstGeom prst="roundRect">
            <a:avLst>
              <a:gd name="adj" fmla="val 45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467029" y="4306824"/>
            <a:ext cx="199484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1" i="0">
                <a:solidFill>
                  <a:srgbClr val="EEEDF6"/>
                </a:solidFill>
                <a:latin typeface="Consolas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029" y="4855464"/>
            <a:ext cx="199484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C9BBB"/>
                </a:solidFill>
                <a:latin typeface="Segoe UI"/>
              </a:rPr>
              <a:t>import à réconcilier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5847" y="1901952"/>
            <a:ext cx="541004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 i="0" spc="120">
                <a:solidFill>
                  <a:srgbClr val="9C9BBB"/>
                </a:solidFill>
                <a:latin typeface="Consolas"/>
              </a:rPr>
              <a:t>TERRAFORM/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5847" y="2194560"/>
            <a:ext cx="5410047" cy="2818638"/>
          </a:xfrm>
          <a:prstGeom prst="roundRect">
            <a:avLst>
              <a:gd name="adj" fmla="val 4500"/>
            </a:avLst>
          </a:prstGeom>
          <a:solidFill>
            <a:srgbClr val="1C2044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315303" y="2370124"/>
            <a:ext cx="4971135" cy="25113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00" b="0" i="0">
                <a:solidFill>
                  <a:srgbClr val="8B7BF0"/>
                </a:solidFill>
                <a:latin typeface="Consolas"/>
              </a:rPr>
              <a:t>versions.tf</a:t>
            </a:r>
            <a:r>
              <a:rPr sz="1100" b="0" i="0">
                <a:solidFill>
                  <a:srgbClr val="9C9BBB"/>
                </a:solidFill>
                <a:latin typeface="Consolas"/>
              </a:rPr>
              <a:t>           providers + backend GCS</a:t>
            </a:r>
          </a:p>
          <a:p>
            <a:pPr>
              <a:lnSpc>
                <a:spcPct val="132000"/>
              </a:lnSpc>
            </a:pPr>
            <a:r>
              <a:rPr sz="1100" b="0" i="0">
                <a:solidFill>
                  <a:srgbClr val="8B7BF0"/>
                </a:solidFill>
                <a:latin typeface="Consolas"/>
              </a:rPr>
              <a:t>variables.tf</a:t>
            </a:r>
            <a:r>
              <a:rPr sz="1100" b="0" i="0">
                <a:solidFill>
                  <a:srgbClr val="9C9BBB"/>
                </a:solidFill>
                <a:latin typeface="Consolas"/>
              </a:rPr>
              <a:t>          3 variables sensibles</a:t>
            </a:r>
          </a:p>
          <a:p>
            <a:pPr>
              <a:lnSpc>
                <a:spcPct val="132000"/>
              </a:lnSpc>
            </a:pPr>
            <a:r>
              <a:rPr sz="1100" b="0" i="0">
                <a:solidFill>
                  <a:srgbClr val="8B7BF0"/>
                </a:solidFill>
                <a:latin typeface="Consolas"/>
              </a:rPr>
              <a:t>apis.tf</a:t>
            </a:r>
            <a:r>
              <a:rPr sz="1100" b="0" i="0">
                <a:solidFill>
                  <a:srgbClr val="9C9BBB"/>
                </a:solidFill>
                <a:latin typeface="Consolas"/>
              </a:rPr>
              <a:t>               9 APIs GCP (for_each)</a:t>
            </a:r>
          </a:p>
          <a:p>
            <a:pPr>
              <a:lnSpc>
                <a:spcPct val="132000"/>
              </a:lnSpc>
            </a:pPr>
            <a:r>
              <a:rPr sz="1100" b="0" i="0">
                <a:solidFill>
                  <a:srgbClr val="8B7BF0"/>
                </a:solidFill>
                <a:latin typeface="Consolas"/>
              </a:rPr>
              <a:t>artifact_registry.tf</a:t>
            </a:r>
            <a:r>
              <a:rPr sz="1100" b="0" i="0">
                <a:solidFill>
                  <a:srgbClr val="9C9BBB"/>
                </a:solidFill>
                <a:latin typeface="Consolas"/>
              </a:rPr>
              <a:t>  repo Docker</a:t>
            </a:r>
          </a:p>
          <a:p>
            <a:pPr>
              <a:lnSpc>
                <a:spcPct val="132000"/>
              </a:lnSpc>
            </a:pPr>
            <a:r>
              <a:rPr sz="1100" b="0" i="0">
                <a:solidFill>
                  <a:srgbClr val="8B7BF0"/>
                </a:solidFill>
                <a:latin typeface="Consolas"/>
              </a:rPr>
              <a:t>network.tf</a:t>
            </a:r>
            <a:r>
              <a:rPr sz="1100" b="0" i="0">
                <a:solidFill>
                  <a:srgbClr val="9C9BBB"/>
                </a:solidFill>
                <a:latin typeface="Consolas"/>
              </a:rPr>
              <a:t>            2 règles firewall</a:t>
            </a:r>
          </a:p>
          <a:p>
            <a:pPr>
              <a:lnSpc>
                <a:spcPct val="132000"/>
              </a:lnSpc>
            </a:pPr>
            <a:r>
              <a:rPr sz="1100" b="0" i="0">
                <a:solidFill>
                  <a:srgbClr val="8B7BF0"/>
                </a:solidFill>
                <a:latin typeface="Consolas"/>
              </a:rPr>
              <a:t>database.tf</a:t>
            </a:r>
            <a:r>
              <a:rPr sz="1100" b="0" i="0">
                <a:solidFill>
                  <a:srgbClr val="9C9BBB"/>
                </a:solidFill>
                <a:latin typeface="Consolas"/>
              </a:rPr>
              <a:t>           VM + random_password</a:t>
            </a:r>
          </a:p>
          <a:p>
            <a:pPr>
              <a:lnSpc>
                <a:spcPct val="132000"/>
              </a:lnSpc>
            </a:pPr>
            <a:r>
              <a:rPr sz="1100" b="0" i="0">
                <a:solidFill>
                  <a:srgbClr val="8B7BF0"/>
                </a:solidFill>
                <a:latin typeface="Consolas"/>
              </a:rPr>
              <a:t>secrets.tf</a:t>
            </a:r>
            <a:r>
              <a:rPr sz="1100" b="0" i="0">
                <a:solidFill>
                  <a:srgbClr val="9C9BBB"/>
                </a:solidFill>
                <a:latin typeface="Consolas"/>
              </a:rPr>
              <a:t>            6 secrets + versions</a:t>
            </a:r>
          </a:p>
          <a:p>
            <a:pPr>
              <a:lnSpc>
                <a:spcPct val="132000"/>
              </a:lnSpc>
            </a:pPr>
            <a:r>
              <a:rPr sz="1100" b="0" i="0">
                <a:solidFill>
                  <a:srgbClr val="8B7BF0"/>
                </a:solidFill>
                <a:latin typeface="Consolas"/>
              </a:rPr>
              <a:t>iam.tf</a:t>
            </a:r>
            <a:r>
              <a:rPr sz="1100" b="0" i="0">
                <a:solidFill>
                  <a:srgbClr val="9C9BBB"/>
                </a:solidFill>
                <a:latin typeface="Consolas"/>
              </a:rPr>
              <a:t>                bindings du SA runtime</a:t>
            </a:r>
          </a:p>
          <a:p>
            <a:pPr>
              <a:lnSpc>
                <a:spcPct val="132000"/>
              </a:lnSpc>
            </a:pPr>
            <a:r>
              <a:rPr sz="1100" b="0" i="0">
                <a:solidFill>
                  <a:srgbClr val="8B7BF0"/>
                </a:solidFill>
                <a:latin typeface="Consolas"/>
              </a:rPr>
              <a:t>cloud_run.tf</a:t>
            </a:r>
            <a:r>
              <a:rPr sz="1100" b="0" i="0">
                <a:solidFill>
                  <a:srgbClr val="9C9BBB"/>
                </a:solidFill>
                <a:latin typeface="Consolas"/>
              </a:rPr>
              <a:t>          service + accès public</a:t>
            </a:r>
          </a:p>
          <a:p>
            <a:pPr>
              <a:lnSpc>
                <a:spcPct val="132000"/>
              </a:lnSpc>
            </a:pPr>
            <a:r>
              <a:rPr sz="1100" b="0" i="0">
                <a:solidFill>
                  <a:srgbClr val="8B7BF0"/>
                </a:solidFill>
                <a:latin typeface="Consolas"/>
              </a:rPr>
              <a:t>cloud_scheduler.tf</a:t>
            </a:r>
            <a:r>
              <a:rPr sz="1100" b="0" i="0">
                <a:solidFill>
                  <a:srgbClr val="9C9BBB"/>
                </a:solidFill>
                <a:latin typeface="Consolas"/>
              </a:rPr>
              <a:t>    job quotidien</a:t>
            </a:r>
          </a:p>
          <a:p>
            <a:pPr>
              <a:lnSpc>
                <a:spcPct val="132000"/>
              </a:lnSpc>
            </a:pPr>
            <a:r>
              <a:rPr sz="1100" b="0" i="0">
                <a:solidFill>
                  <a:srgbClr val="8B7BF0"/>
                </a:solidFill>
                <a:latin typeface="Consolas"/>
              </a:rPr>
              <a:t>outputs.tf</a:t>
            </a:r>
            <a:r>
              <a:rPr sz="1100" b="0" i="0">
                <a:solidFill>
                  <a:srgbClr val="9C9BBB"/>
                </a:solidFill>
                <a:latin typeface="Consolas"/>
              </a:rPr>
              <a:t>            service_url, db_ip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150">
                <a:solidFill>
                  <a:srgbClr val="8B7BF0"/>
                </a:solidFill>
                <a:latin typeface="Consolas"/>
              </a:rPr>
              <a:t>INFRASTRUCTURE AS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86384"/>
            <a:ext cx="10820095" cy="10972"/>
          </a:xfrm>
          <a:prstGeom prst="rect">
            <a:avLst/>
          </a:prstGeom>
          <a:solidFill>
            <a:srgbClr val="2B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 i="0">
                <a:solidFill>
                  <a:srgbClr val="EEEDF6"/>
                </a:solidFill>
                <a:latin typeface="Consolas"/>
              </a:rPr>
              <a:t>Le plan comme filet de sécurité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72784"/>
            <a:ext cx="12191695" cy="10972"/>
          </a:xfrm>
          <a:prstGeom prst="rect">
            <a:avLst/>
          </a:prstGeom>
          <a:solidFill>
            <a:srgbClr val="2B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64224"/>
            <a:ext cx="757406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00">
                <a:solidFill>
                  <a:srgbClr val="9C9BBB"/>
                </a:solidFill>
                <a:latin typeface="Consolas"/>
              </a:rPr>
              <a:t>LifeAI  ·  Pipeline DevOps &amp; IaC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636422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C9BBB"/>
                </a:solidFill>
                <a:latin typeface="Consolas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9197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9C9BBB"/>
                </a:solidFill>
                <a:latin typeface="Segoe UI"/>
              </a:rPr>
              <a:t>La différence concrète avec les scripts bash : on lit ce qui va changer avant que ça change. Premier plan contre le projet vide, avant tout apply.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87168"/>
            <a:ext cx="10820095" cy="2221992"/>
          </a:xfrm>
          <a:prstGeom prst="roundRect">
            <a:avLst>
              <a:gd name="adj" fmla="val 4500"/>
            </a:avLst>
          </a:prstGeom>
          <a:solidFill>
            <a:srgbClr val="1C2044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05256" y="2662732"/>
            <a:ext cx="10381183" cy="19147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50" b="0" i="0">
                <a:solidFill>
                  <a:srgbClr val="EEEDF6"/>
                </a:solidFill>
                <a:latin typeface="Consolas"/>
              </a:rPr>
              <a:t>$ terraform plan</a:t>
            </a:r>
          </a:p>
          <a:p>
            <a:pPr>
              <a:lnSpc>
                <a:spcPct val="132000"/>
              </a:lnSpc>
            </a:pPr>
            <a:r>
              <a:rPr sz="1150" b="0" i="0">
                <a:solidFill>
                  <a:srgbClr val="EEEDF6"/>
                </a:solidFill>
                <a:latin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50" b="0" i="0">
                <a:solidFill>
                  <a:srgbClr val="4ACBB9"/>
                </a:solidFill>
                <a:latin typeface="Consolas"/>
              </a:rPr>
              <a:t>  + google_compute_instance.lifeai_db</a:t>
            </a:r>
          </a:p>
          <a:p>
            <a:pPr>
              <a:lnSpc>
                <a:spcPct val="132000"/>
              </a:lnSpc>
            </a:pPr>
            <a:r>
              <a:rPr sz="1150" b="0" i="0">
                <a:solidFill>
                  <a:srgbClr val="4ACBB9"/>
                </a:solidFill>
                <a:latin typeface="Consolas"/>
              </a:rPr>
              <a:t>  + google_cloud_run_v2_service.lifeai_api</a:t>
            </a:r>
          </a:p>
          <a:p>
            <a:pPr>
              <a:lnSpc>
                <a:spcPct val="132000"/>
              </a:lnSpc>
            </a:pPr>
            <a:r>
              <a:rPr sz="1150" b="0" i="0">
                <a:solidFill>
                  <a:srgbClr val="4ACBB9"/>
                </a:solidFill>
                <a:latin typeface="Consolas"/>
              </a:rPr>
              <a:t>  + google_secret_manager_secret.this["lifeai-database-url"]</a:t>
            </a:r>
          </a:p>
          <a:p>
            <a:pPr>
              <a:lnSpc>
                <a:spcPct val="132000"/>
              </a:lnSpc>
            </a:pPr>
            <a:r>
              <a:rPr sz="1150" b="0" i="0">
                <a:solidFill>
                  <a:srgbClr val="9C9BBB"/>
                </a:solidFill>
                <a:latin typeface="Consolas"/>
              </a:rPr>
              <a:t>  ... 35 autres ressources</a:t>
            </a:r>
          </a:p>
          <a:p>
            <a:pPr>
              <a:lnSpc>
                <a:spcPct val="132000"/>
              </a:lnSpc>
            </a:pPr>
            <a:r>
              <a:rPr sz="1150" b="0" i="0">
                <a:solidFill>
                  <a:srgbClr val="EEEDF6"/>
                </a:solidFill>
                <a:latin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50" b="0" i="0">
                <a:solidFill>
                  <a:srgbClr val="EEEDF6"/>
                </a:solidFill>
                <a:latin typeface="Consolas"/>
              </a:rPr>
              <a:t>Plan: 38 to add, 0 to change, 0 to destroy.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937760"/>
            <a:ext cx="3454298" cy="1188720"/>
          </a:xfrm>
          <a:prstGeom prst="roundRect">
            <a:avLst>
              <a:gd name="adj" fmla="val 45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86968" y="5120640"/>
            <a:ext cx="305196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 i="0" spc="120">
                <a:solidFill>
                  <a:srgbClr val="4ACBB9"/>
                </a:solidFill>
                <a:latin typeface="Consolas"/>
              </a:rPr>
              <a:t>IDEMPOTENCE NATIVE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5413248"/>
            <a:ext cx="305196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9C9BBB"/>
                </a:solidFill>
                <a:latin typeface="Segoe UI"/>
              </a:rPr>
              <a:t>Un apply répété sans changement ne fait rien — plus de garde à écrire.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8698" y="4937760"/>
            <a:ext cx="3454298" cy="1188720"/>
          </a:xfrm>
          <a:prstGeom prst="roundRect">
            <a:avLst>
              <a:gd name="adj" fmla="val 45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69866" y="5120640"/>
            <a:ext cx="305196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 i="0" spc="120">
                <a:solidFill>
                  <a:srgbClr val="4ACBB9"/>
                </a:solidFill>
                <a:latin typeface="Consolas"/>
              </a:rPr>
              <a:t>DÉTECTION DE DÉRIVE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9866" y="5413248"/>
            <a:ext cx="305196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9C9BBB"/>
                </a:solidFill>
                <a:latin typeface="Segoe UI"/>
              </a:rPr>
              <a:t>Une modification manuelle en console apparaît au prochain plan.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1596" y="4937760"/>
            <a:ext cx="3454298" cy="1188720"/>
          </a:xfrm>
          <a:prstGeom prst="roundRect">
            <a:avLst>
              <a:gd name="adj" fmla="val 45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52764" y="5120640"/>
            <a:ext cx="305196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 i="0" spc="120">
                <a:solidFill>
                  <a:srgbClr val="4ACBB9"/>
                </a:solidFill>
                <a:latin typeface="Consolas"/>
              </a:rPr>
              <a:t>REVUE PAR DIFF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2764" y="5413248"/>
            <a:ext cx="305196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9C9BBB"/>
                </a:solidFill>
                <a:latin typeface="Segoe UI"/>
              </a:rPr>
              <a:t>Un changement d'infra se relit comme n'importe quelle pull request.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150">
                <a:solidFill>
                  <a:srgbClr val="8B7BF0"/>
                </a:solidFill>
                <a:latin typeface="Consolas"/>
              </a:rPr>
              <a:t>INFRASTRUCTURE AS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86384"/>
            <a:ext cx="10820095" cy="10972"/>
          </a:xfrm>
          <a:prstGeom prst="rect">
            <a:avLst/>
          </a:prstGeom>
          <a:solidFill>
            <a:srgbClr val="2B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 i="0">
                <a:solidFill>
                  <a:srgbClr val="EEEDF6"/>
                </a:solidFill>
                <a:latin typeface="Consolas"/>
              </a:rPr>
              <a:t>Le problème de l'œuf et de la poule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72784"/>
            <a:ext cx="12191695" cy="10972"/>
          </a:xfrm>
          <a:prstGeom prst="rect">
            <a:avLst/>
          </a:prstGeom>
          <a:solidFill>
            <a:srgbClr val="2B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64224"/>
            <a:ext cx="757406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00">
                <a:solidFill>
                  <a:srgbClr val="9C9BBB"/>
                </a:solidFill>
                <a:latin typeface="Consolas"/>
              </a:rPr>
              <a:t>LifeAI  ·  Pipeline DevOps &amp; IaC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636422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C9BBB"/>
                </a:solidFill>
                <a:latin typeface="Consolas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01952"/>
            <a:ext cx="4977243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9C9BBB"/>
                </a:solidFill>
                <a:latin typeface="Segoe UI"/>
              </a:rPr>
              <a:t>Terraform ne peut pas créer ce dont il a lui-même besoin pour démarrer : le bucket de state doit exister avant terraform init, et l'identité de la CI avant le premier apply.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26080"/>
            <a:ext cx="4977243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019" b="0" i="0">
                <a:solidFill>
                  <a:srgbClr val="8B7BF0"/>
                </a:solidFill>
                <a:latin typeface="Consolas"/>
              </a:rPr>
              <a:t>▪  </a:t>
            </a:r>
            <a:r>
              <a:rPr sz="1200" b="0" i="0">
                <a:solidFill>
                  <a:srgbClr val="9C9BBB"/>
                </a:solidFill>
                <a:latin typeface="Segoe UI"/>
              </a:rPr>
              <a:t>Le projet GCP et sa liaison de facturation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019" b="0" i="0">
                <a:solidFill>
                  <a:srgbClr val="8B7BF0"/>
                </a:solidFill>
                <a:latin typeface="Consolas"/>
              </a:rPr>
              <a:t>▪  </a:t>
            </a:r>
            <a:r>
              <a:rPr sz="1200" b="0" i="0">
                <a:solidFill>
                  <a:srgbClr val="9C9BBB"/>
                </a:solidFill>
                <a:latin typeface="Segoe UI"/>
              </a:rPr>
              <a:t>Le bucket lifeai-devops-tfstate, versionné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019" b="0" i="0">
                <a:solidFill>
                  <a:srgbClr val="8B7BF0"/>
                </a:solidFill>
                <a:latin typeface="Consolas"/>
              </a:rPr>
              <a:t>▪  </a:t>
            </a:r>
            <a:r>
              <a:rPr sz="1200" b="0" i="0">
                <a:solidFill>
                  <a:srgbClr val="9C9BBB"/>
                </a:solidFill>
                <a:latin typeface="Segoe UI"/>
              </a:rPr>
              <a:t>Le Workload Identity Pool et son provider OIDC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019" b="0" i="0">
                <a:solidFill>
                  <a:srgbClr val="8B7BF0"/>
                </a:solidFill>
                <a:latin typeface="Consolas"/>
              </a:rPr>
              <a:t>▪  </a:t>
            </a:r>
            <a:r>
              <a:rPr sz="1200" b="0" i="0">
                <a:solidFill>
                  <a:srgbClr val="9C9BBB"/>
                </a:solidFill>
                <a:latin typeface="Segoe UI"/>
              </a:rPr>
              <a:t>Le service account github-actions-deployer et ses rôles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983480"/>
            <a:ext cx="4977243" cy="777240"/>
          </a:xfrm>
          <a:prstGeom prst="roundRect">
            <a:avLst>
              <a:gd name="adj" fmla="val 4500"/>
            </a:avLst>
          </a:prstGeom>
          <a:solidFill>
            <a:srgbClr val="1C2044"/>
          </a:solidFill>
          <a:ln w="12700">
            <a:solidFill>
              <a:srgbClr val="4ACB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5148072"/>
            <a:ext cx="453833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ACBB9"/>
                </a:solidFill>
                <a:latin typeface="Segoe UI"/>
              </a:rPr>
              <a:t>Un seul script bash subsiste, lancé une fois.
Tout le reste est déclaratif.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7" y="1901952"/>
            <a:ext cx="541004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 i="0" spc="120">
                <a:solidFill>
                  <a:srgbClr val="9C9BBB"/>
                </a:solidFill>
                <a:latin typeface="Consolas"/>
              </a:rPr>
              <a:t>BOOTSTRAP/BOOTSTRAP_CI.SH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7" y="2194560"/>
            <a:ext cx="5410047" cy="2921508"/>
          </a:xfrm>
          <a:prstGeom prst="roundRect">
            <a:avLst>
              <a:gd name="adj" fmla="val 4500"/>
            </a:avLst>
          </a:prstGeom>
          <a:solidFill>
            <a:srgbClr val="1C2044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15303" y="2370124"/>
            <a:ext cx="4971135" cy="26142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050" b="0" i="0">
                <a:solidFill>
                  <a:srgbClr val="EEEDF6"/>
                </a:solidFill>
                <a:latin typeface="Consolas"/>
              </a:rPr>
              <a:t>$ ./bootstrap/bootstrap_ci.sh</a:t>
            </a:r>
          </a:p>
          <a:p>
            <a:pPr>
              <a:lnSpc>
                <a:spcPct val="132000"/>
              </a:lnSpc>
            </a:pPr>
            <a:r>
              <a:rPr sz="1050" b="0" i="0">
                <a:solidFill>
                  <a:srgbClr val="EEEDF6"/>
                </a:solidFill>
                <a:latin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 b="0" i="0">
                <a:solidFill>
                  <a:srgbClr val="9C9BBB"/>
                </a:solidFill>
                <a:latin typeface="Consolas"/>
              </a:rPr>
              <a:t>== Projet GCP (lifeai-devops) ==</a:t>
            </a:r>
          </a:p>
          <a:p>
            <a:pPr>
              <a:lnSpc>
                <a:spcPct val="132000"/>
              </a:lnSpc>
            </a:pPr>
            <a:r>
              <a:rPr sz="1050" b="0" i="0">
                <a:solidFill>
                  <a:srgbClr val="9C9BBB"/>
                </a:solidFill>
                <a:latin typeface="Consolas"/>
              </a:rPr>
              <a:t>== Bucket GCS pour le state Terraform ==</a:t>
            </a:r>
          </a:p>
          <a:p>
            <a:pPr>
              <a:lnSpc>
                <a:spcPct val="132000"/>
              </a:lnSpc>
            </a:pPr>
            <a:r>
              <a:rPr sz="1050" b="0" i="0">
                <a:solidFill>
                  <a:srgbClr val="9C9BBB"/>
                </a:solidFill>
                <a:latin typeface="Consolas"/>
              </a:rPr>
              <a:t>== Workload Identity Pool (github-pool) ==</a:t>
            </a:r>
          </a:p>
          <a:p>
            <a:pPr>
              <a:lnSpc>
                <a:spcPct val="132000"/>
              </a:lnSpc>
            </a:pPr>
            <a:r>
              <a:rPr sz="1050" b="0" i="0">
                <a:solidFill>
                  <a:srgbClr val="9C9BBB"/>
                </a:solidFill>
                <a:latin typeface="Consolas"/>
              </a:rPr>
              <a:t>== Provider OIDC — restreint au repo ==</a:t>
            </a:r>
          </a:p>
          <a:p>
            <a:pPr>
              <a:lnSpc>
                <a:spcPct val="132000"/>
              </a:lnSpc>
            </a:pPr>
            <a:r>
              <a:rPr sz="1050" b="0" i="0">
                <a:solidFill>
                  <a:srgbClr val="9C9BBB"/>
                </a:solidFill>
                <a:latin typeface="Consolas"/>
              </a:rPr>
              <a:t>== Service account + rôles IAM ==</a:t>
            </a:r>
          </a:p>
          <a:p>
            <a:pPr>
              <a:lnSpc>
                <a:spcPct val="132000"/>
              </a:lnSpc>
            </a:pPr>
            <a:r>
              <a:rPr sz="1050" b="0" i="0">
                <a:solidFill>
                  <a:srgbClr val="EEEDF6"/>
                </a:solidFill>
                <a:latin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 b="0" i="0">
                <a:solidFill>
                  <a:srgbClr val="EEEDF6"/>
                </a:solidFill>
                <a:latin typeface="Consolas"/>
              </a:rPr>
              <a:t>Ajoute ces secrets dans GitHub :</a:t>
            </a:r>
          </a:p>
          <a:p>
            <a:pPr>
              <a:lnSpc>
                <a:spcPct val="132000"/>
              </a:lnSpc>
            </a:pPr>
            <a:r>
              <a:rPr sz="1050" b="0" i="0">
                <a:solidFill>
                  <a:srgbClr val="9C9BBB"/>
                </a:solidFill>
                <a:latin typeface="Consolas"/>
              </a:rPr>
              <a:t>  GCP_WORKLOAD_IDENTITY_PROVIDER = </a:t>
            </a:r>
            <a:r>
              <a:rPr sz="1050" b="0" i="0">
                <a:solidFill>
                  <a:srgbClr val="4ACBB9"/>
                </a:solidFill>
                <a:latin typeface="Consolas"/>
              </a:rPr>
              <a:t>projects/404…</a:t>
            </a:r>
          </a:p>
          <a:p>
            <a:pPr>
              <a:lnSpc>
                <a:spcPct val="132000"/>
              </a:lnSpc>
            </a:pPr>
            <a:r>
              <a:rPr sz="1050" b="0" i="0">
                <a:solidFill>
                  <a:srgbClr val="9C9BBB"/>
                </a:solidFill>
                <a:latin typeface="Consolas"/>
              </a:rPr>
              <a:t>  GCP_SERVICE_ACCOUNT            = </a:t>
            </a:r>
            <a:r>
              <a:rPr sz="1050" b="0" i="0">
                <a:solidFill>
                  <a:srgbClr val="4ACBB9"/>
                </a:solidFill>
                <a:latin typeface="Consolas"/>
              </a:rPr>
              <a:t>github-actions…</a:t>
            </a:r>
          </a:p>
          <a:p>
            <a:pPr>
              <a:lnSpc>
                <a:spcPct val="132000"/>
              </a:lnSpc>
            </a:pPr>
            <a:r>
              <a:rPr sz="1050" b="0" i="0">
                <a:solidFill>
                  <a:srgbClr val="9C9BBB"/>
                </a:solidFill>
                <a:latin typeface="Consolas"/>
              </a:rPr>
              <a:t>  GCP_PROJECT_ID                 = </a:t>
            </a:r>
            <a:r>
              <a:rPr sz="1050" b="0" i="0">
                <a:solidFill>
                  <a:srgbClr val="4ACBB9"/>
                </a:solidFill>
                <a:latin typeface="Consolas"/>
              </a:rPr>
              <a:t>lifeai-devops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5847" y="5280660"/>
            <a:ext cx="541004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1">
                <a:solidFill>
                  <a:srgbClr val="9C9BBB"/>
                </a:solidFill>
                <a:latin typeface="Segoe UI"/>
              </a:rPr>
              <a:t>Script idempotent — relançable sans effet de bord.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150">
                <a:solidFill>
                  <a:srgbClr val="8B7BF0"/>
                </a:solidFill>
                <a:latin typeface="Consolas"/>
              </a:rPr>
              <a:t>INTÉGRATION &amp; DÉPLOIEMENT CONTINUS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86384"/>
            <a:ext cx="10820095" cy="10972"/>
          </a:xfrm>
          <a:prstGeom prst="rect">
            <a:avLst/>
          </a:prstGeom>
          <a:solidFill>
            <a:srgbClr val="2B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 i="0">
                <a:solidFill>
                  <a:srgbClr val="EEEDF6"/>
                </a:solidFill>
                <a:latin typeface="Consolas"/>
              </a:rPr>
              <a:t>Trois jobs, un git push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72784"/>
            <a:ext cx="12191695" cy="10972"/>
          </a:xfrm>
          <a:prstGeom prst="rect">
            <a:avLst/>
          </a:prstGeom>
          <a:solidFill>
            <a:srgbClr val="2B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64224"/>
            <a:ext cx="757406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00">
                <a:solidFill>
                  <a:srgbClr val="9C9BBB"/>
                </a:solidFill>
                <a:latin typeface="Consolas"/>
              </a:rPr>
              <a:t>LifeAI  ·  Pipeline DevOps &amp; IaC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636422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C9BBB"/>
                </a:solidFill>
                <a:latin typeface="Consola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3472586" cy="1691640"/>
          </a:xfrm>
          <a:prstGeom prst="roundRect">
            <a:avLst>
              <a:gd name="adj" fmla="val 45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86968" y="2048256"/>
            <a:ext cx="30702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 i="0" spc="120">
                <a:solidFill>
                  <a:srgbClr val="8B7BF0"/>
                </a:solidFill>
                <a:latin typeface="Consolas"/>
              </a:rPr>
              <a:t>JOB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13432"/>
            <a:ext cx="30702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EEEDF6"/>
                </a:solidFill>
                <a:latin typeface="Consolas"/>
              </a:rPr>
              <a:t>prepare-registry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670048"/>
            <a:ext cx="307025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C9BBB"/>
                </a:solidFill>
                <a:latin typeface="Segoe UI"/>
              </a:rPr>
              <a:t>terraform apply ciblé sur l'activation des APIs et la création du registry.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" y="3246120"/>
            <a:ext cx="3070250" cy="7315"/>
          </a:xfrm>
          <a:prstGeom prst="rect">
            <a:avLst/>
          </a:prstGeom>
          <a:solidFill>
            <a:srgbClr val="2B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319272"/>
            <a:ext cx="30702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ACBB9"/>
                </a:solidFill>
                <a:latin typeface="Consolas"/>
              </a:rPr>
              <a:t>↳ Artifact Registry prêt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9554" y="1874519"/>
            <a:ext cx="3472586" cy="1691640"/>
          </a:xfrm>
          <a:prstGeom prst="roundRect">
            <a:avLst>
              <a:gd name="adj" fmla="val 45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60722" y="2048256"/>
            <a:ext cx="30702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 i="0" spc="120">
                <a:solidFill>
                  <a:srgbClr val="8B7BF0"/>
                </a:solidFill>
                <a:latin typeface="Consolas"/>
              </a:rPr>
              <a:t>JOB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0722" y="2313432"/>
            <a:ext cx="30702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EEEDF6"/>
                </a:solidFill>
                <a:latin typeface="Consolas"/>
              </a:rP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0722" y="2670048"/>
            <a:ext cx="307025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C9BBB"/>
                </a:solidFill>
                <a:latin typeface="Segoe UI"/>
              </a:rPr>
              <a:t>docker buildx puis push, taggé &lt;sha&gt; et latest. Cache de layers GitHub Actions.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0722" y="3246120"/>
            <a:ext cx="3070250" cy="7315"/>
          </a:xfrm>
          <a:prstGeom prst="rect">
            <a:avLst/>
          </a:prstGeom>
          <a:solidFill>
            <a:srgbClr val="2B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60722" y="3319272"/>
            <a:ext cx="30702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ACBB9"/>
                </a:solidFill>
                <a:latin typeface="Consolas"/>
              </a:rPr>
              <a:t>↳ image poussée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3308" y="1874519"/>
            <a:ext cx="3472586" cy="1691640"/>
          </a:xfrm>
          <a:prstGeom prst="roundRect">
            <a:avLst>
              <a:gd name="adj" fmla="val 45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34476" y="2048256"/>
            <a:ext cx="30702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 i="0" spc="120">
                <a:solidFill>
                  <a:srgbClr val="8B7BF0"/>
                </a:solidFill>
                <a:latin typeface="Consolas"/>
              </a:rPr>
              <a:t>JOB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4476" y="2313432"/>
            <a:ext cx="307025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EEEDF6"/>
                </a:solidFill>
                <a:latin typeface="Consolas"/>
              </a:rPr>
              <a:t>deploy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4476" y="2670048"/>
            <a:ext cx="307025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C9BBB"/>
                </a:solidFill>
                <a:latin typeface="Segoe UI"/>
              </a:rPr>
              <a:t>terraform apply complet avec image_tag=&lt;sha&gt; — crée ou actualise toute l'infra.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34476" y="3246120"/>
            <a:ext cx="3070250" cy="7315"/>
          </a:xfrm>
          <a:prstGeom prst="rect">
            <a:avLst/>
          </a:prstGeom>
          <a:solidFill>
            <a:srgbClr val="2B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34476" y="3319272"/>
            <a:ext cx="30702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4ACBB9"/>
                </a:solidFill>
                <a:latin typeface="Consolas"/>
              </a:rPr>
              <a:t>↳ révision Cloud Run en ligne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840480"/>
            <a:ext cx="5085444" cy="2057400"/>
          </a:xfrm>
          <a:prstGeom prst="roundRect">
            <a:avLst>
              <a:gd name="adj" fmla="val 4500"/>
            </a:avLst>
          </a:prstGeom>
          <a:solidFill>
            <a:srgbClr val="1C2044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05256" y="4016044"/>
            <a:ext cx="4646532" cy="17501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050" b="0" i="0">
                <a:solidFill>
                  <a:srgbClr val="8B7BF0"/>
                </a:solidFill>
                <a:latin typeface="Consolas"/>
              </a:rPr>
              <a:t>on:</a:t>
            </a:r>
            <a:r>
              <a:rPr sz="1050" b="0" i="0">
                <a:solidFill>
                  <a:srgbClr val="8B7BF0"/>
                </a:solidFill>
                <a:latin typeface="Consolas"/>
              </a:rPr>
              <a:t>  push:</a:t>
            </a:r>
            <a:r>
              <a:rPr sz="1050" b="0" i="0">
                <a:solidFill>
                  <a:srgbClr val="8B7BF0"/>
                </a:solidFill>
                <a:latin typeface="Consolas"/>
              </a:rPr>
              <a:t>  branches: </a:t>
            </a:r>
            <a:r>
              <a:rPr sz="1050" b="0" i="0">
                <a:solidFill>
                  <a:srgbClr val="EEEDF6"/>
                </a:solidFill>
                <a:latin typeface="Consolas"/>
              </a:rPr>
              <a:t>[main]</a:t>
            </a:r>
          </a:p>
          <a:p>
            <a:pPr>
              <a:lnSpc>
                <a:spcPct val="132000"/>
              </a:lnSpc>
            </a:pPr>
            <a:r>
              <a:rPr sz="1050" b="0" i="0">
                <a:solidFill>
                  <a:srgbClr val="8B7BF0"/>
                </a:solidFill>
                <a:latin typeface="Consolas"/>
              </a:rPr>
              <a:t>    paths:</a:t>
            </a:r>
          </a:p>
          <a:p>
            <a:pPr>
              <a:lnSpc>
                <a:spcPct val="132000"/>
              </a:lnSpc>
            </a:pPr>
            <a:r>
              <a:rPr sz="1050" b="0" i="0">
                <a:solidFill>
                  <a:srgbClr val="EEEDF6"/>
                </a:solidFill>
                <a:latin typeface="Consolas"/>
              </a:rPr>
              <a:t>      - </a:t>
            </a:r>
            <a:r>
              <a:rPr sz="1050" b="0" i="0">
                <a:solidFill>
                  <a:srgbClr val="4ACBB9"/>
                </a:solidFill>
                <a:latin typeface="Consolas"/>
              </a:rPr>
              <a:t>"api.py"</a:t>
            </a:r>
            <a:r>
              <a:rPr sz="1050" b="0" i="0">
                <a:solidFill>
                  <a:srgbClr val="EEEDF6"/>
                </a:solidFill>
                <a:latin typeface="Consolas"/>
              </a:rPr>
              <a:t>   - </a:t>
            </a:r>
            <a:r>
              <a:rPr sz="1050" b="0" i="0">
                <a:solidFill>
                  <a:srgbClr val="4ACBB9"/>
                </a:solidFill>
                <a:latin typeface="Consolas"/>
              </a:rPr>
              <a:t>"agentic/**"</a:t>
            </a:r>
          </a:p>
          <a:p>
            <a:pPr>
              <a:lnSpc>
                <a:spcPct val="132000"/>
              </a:lnSpc>
            </a:pPr>
            <a:r>
              <a:rPr sz="1050" b="0" i="0">
                <a:solidFill>
                  <a:srgbClr val="EEEDF6"/>
                </a:solidFill>
                <a:latin typeface="Consolas"/>
              </a:rPr>
              <a:t>      - </a:t>
            </a:r>
            <a:r>
              <a:rPr sz="1050" b="0" i="0">
                <a:solidFill>
                  <a:srgbClr val="4ACBB9"/>
                </a:solidFill>
                <a:latin typeface="Consolas"/>
              </a:rPr>
              <a:t>"terraform/**"</a:t>
            </a:r>
          </a:p>
          <a:p>
            <a:pPr>
              <a:lnSpc>
                <a:spcPct val="132000"/>
              </a:lnSpc>
            </a:pPr>
            <a:r>
              <a:rPr sz="1050" b="0" i="0">
                <a:solidFill>
                  <a:srgbClr val="8B7BF0"/>
                </a:solidFill>
                <a:latin typeface="Consolas"/>
              </a:rPr>
              <a:t>  workflow_dispatch: </a:t>
            </a:r>
            <a:r>
              <a:rPr sz="1050" b="0" i="0">
                <a:solidFill>
                  <a:srgbClr val="EEEDF6"/>
                </a:solidFill>
                <a:latin typeface="Consolas"/>
              </a:rPr>
              <a:t>{}</a:t>
            </a:r>
          </a:p>
          <a:p>
            <a:pPr>
              <a:lnSpc>
                <a:spcPct val="132000"/>
              </a:lnSpc>
            </a:pPr>
            <a:r>
              <a:rPr sz="1050" b="0" i="0">
                <a:solidFill>
                  <a:srgbClr val="EEEDF6"/>
                </a:solidFill>
                <a:latin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 b="0" i="0">
                <a:solidFill>
                  <a:srgbClr val="8B7BF0"/>
                </a:solidFill>
                <a:latin typeface="Consolas"/>
              </a:rPr>
              <a:t>permissions:</a:t>
            </a:r>
          </a:p>
          <a:p>
            <a:pPr>
              <a:lnSpc>
                <a:spcPct val="132000"/>
              </a:lnSpc>
            </a:pPr>
            <a:r>
              <a:rPr sz="1050" b="0" i="0">
                <a:solidFill>
                  <a:srgbClr val="8B7BF0"/>
                </a:solidFill>
                <a:latin typeface="Consolas"/>
              </a:rPr>
              <a:t>  id-token: </a:t>
            </a:r>
            <a:r>
              <a:rPr sz="1050" b="0" i="0">
                <a:solidFill>
                  <a:srgbClr val="EEEDF6"/>
                </a:solidFill>
                <a:latin typeface="Consolas"/>
              </a:rPr>
              <a:t>write</a:t>
            </a:r>
            <a:r>
              <a:rPr sz="1050" b="0" i="0">
                <a:solidFill>
                  <a:srgbClr val="9C9BBB"/>
                </a:solidFill>
                <a:latin typeface="Consolas"/>
              </a:rPr>
              <a:t>   # requis par WIF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5847" y="3840480"/>
            <a:ext cx="5410047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977" b="0" i="0">
                <a:solidFill>
                  <a:srgbClr val="8B7BF0"/>
                </a:solidFill>
                <a:latin typeface="Consolas"/>
              </a:rPr>
              <a:t>▪  </a:t>
            </a:r>
            <a:r>
              <a:rPr sz="1150" b="1" i="0">
                <a:solidFill>
                  <a:srgbClr val="EEEDF6"/>
                </a:solidFill>
                <a:latin typeface="Segoe UI"/>
              </a:rPr>
              <a:t>Filtres de chemins — </a:t>
            </a:r>
            <a:r>
              <a:rPr sz="1150" b="0" i="0">
                <a:solidFill>
                  <a:srgbClr val="9C9BBB"/>
                </a:solidFill>
                <a:latin typeface="Segoe UI"/>
              </a:rPr>
              <a:t>un changement de documentation ne redéploie pas la production.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977" b="0" i="0">
                <a:solidFill>
                  <a:srgbClr val="8B7BF0"/>
                </a:solidFill>
                <a:latin typeface="Consolas"/>
              </a:rPr>
              <a:t>▪  </a:t>
            </a:r>
            <a:r>
              <a:rPr sz="1150" b="1" i="0">
                <a:solidFill>
                  <a:srgbClr val="EEEDF6"/>
                </a:solidFill>
                <a:latin typeface="Segoe UI"/>
              </a:rPr>
              <a:t>Tag par SHA — </a:t>
            </a:r>
            <a:r>
              <a:rPr sz="1150" b="0" i="0">
                <a:solidFill>
                  <a:srgbClr val="9C9BBB"/>
                </a:solidFill>
                <a:latin typeface="Segoe UI"/>
              </a:rPr>
              <a:t>chaque révision Cloud Run remonte au commit exact.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977" b="0" i="0">
                <a:solidFill>
                  <a:srgbClr val="8B7BF0"/>
                </a:solidFill>
                <a:latin typeface="Consolas"/>
              </a:rPr>
              <a:t>▪  </a:t>
            </a:r>
            <a:r>
              <a:rPr sz="1150" b="1" i="0">
                <a:solidFill>
                  <a:srgbClr val="EEEDF6"/>
                </a:solidFill>
                <a:latin typeface="Segoe UI"/>
              </a:rPr>
              <a:t>Cache type=gha — </a:t>
            </a:r>
            <a:r>
              <a:rPr sz="1150" b="0" i="0">
                <a:solidFill>
                  <a:srgbClr val="9C9BBB"/>
                </a:solidFill>
                <a:latin typeface="Segoe UI"/>
              </a:rPr>
              <a:t>les layers Python lourds ne sont pas reconstruits à chaque fois.</a:t>
            </a:r>
          </a:p>
          <a:p>
            <a:pPr>
              <a:lnSpc>
                <a:spcPct val="130000"/>
              </a:lnSpc>
              <a:spcAft>
                <a:spcPts val="900"/>
              </a:spcAft>
            </a:pPr>
            <a:r>
              <a:rPr sz="977" b="0" i="0">
                <a:solidFill>
                  <a:srgbClr val="8B7BF0"/>
                </a:solidFill>
                <a:latin typeface="Consolas"/>
              </a:rPr>
              <a:t>▪  </a:t>
            </a:r>
            <a:r>
              <a:rPr sz="1150" b="1" i="0">
                <a:solidFill>
                  <a:srgbClr val="EEEDF6"/>
                </a:solidFill>
                <a:latin typeface="Segoe UI"/>
              </a:rPr>
              <a:t>Ordre imposé — </a:t>
            </a:r>
            <a:r>
              <a:rPr sz="1150" b="0" i="0">
                <a:solidFill>
                  <a:srgbClr val="9C9BBB"/>
                </a:solidFill>
                <a:latin typeface="Segoe UI"/>
              </a:rPr>
              <a:t>needs: garantit que le registry existe avant le push.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150">
                <a:solidFill>
                  <a:srgbClr val="8B7BF0"/>
                </a:solidFill>
                <a:latin typeface="Consolas"/>
              </a:rPr>
              <a:t>SÉCURITÉ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86384"/>
            <a:ext cx="10820095" cy="10972"/>
          </a:xfrm>
          <a:prstGeom prst="rect">
            <a:avLst/>
          </a:prstGeom>
          <a:solidFill>
            <a:srgbClr val="2B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 i="0">
                <a:solidFill>
                  <a:srgbClr val="EEEDF6"/>
                </a:solidFill>
                <a:latin typeface="Consolas"/>
              </a:rPr>
              <a:t>Authentification sans clé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72784"/>
            <a:ext cx="12191695" cy="10972"/>
          </a:xfrm>
          <a:prstGeom prst="rect">
            <a:avLst/>
          </a:prstGeom>
          <a:solidFill>
            <a:srgbClr val="2B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64224"/>
            <a:ext cx="757406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00">
                <a:solidFill>
                  <a:srgbClr val="9C9BBB"/>
                </a:solidFill>
                <a:latin typeface="Consolas"/>
              </a:rPr>
              <a:t>LifeAI  ·  Pipeline DevOps &amp; IaC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636422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C9BBB"/>
                </a:solidFill>
                <a:latin typeface="Consola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3253645" cy="2286000"/>
          </a:xfrm>
          <a:prstGeom prst="roundRect">
            <a:avLst>
              <a:gd name="adj" fmla="val 45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86968" y="2048256"/>
            <a:ext cx="285130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 i="0" spc="110">
                <a:solidFill>
                  <a:srgbClr val="F0906F"/>
                </a:solidFill>
                <a:latin typeface="Consolas"/>
              </a:rPr>
              <a:t>APPROCHE CLASSIQUE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851309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F0906F"/>
                </a:solidFill>
                <a:latin typeface="Consolas"/>
              </a:rPr>
              <a:t>✕  </a:t>
            </a:r>
            <a:r>
              <a:rPr sz="1100" b="0" i="0">
                <a:solidFill>
                  <a:srgbClr val="9C9BBB"/>
                </a:solidFill>
                <a:latin typeface="Segoe UI"/>
              </a:rPr>
              <a:t>Clé JSON de service account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F0906F"/>
                </a:solidFill>
                <a:latin typeface="Consolas"/>
              </a:rPr>
              <a:t>✕  </a:t>
            </a:r>
            <a:r>
              <a:rPr sz="1100" b="0" i="0">
                <a:solidFill>
                  <a:srgbClr val="9C9BBB"/>
                </a:solidFill>
                <a:latin typeface="Segoe UI"/>
              </a:rPr>
              <a:t>Stockée comme secret GitHub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F0906F"/>
                </a:solidFill>
                <a:latin typeface="Consolas"/>
              </a:rPr>
              <a:t>✕  </a:t>
            </a:r>
            <a:r>
              <a:rPr sz="1100" b="0" i="0">
                <a:solidFill>
                  <a:srgbClr val="9C9BBB"/>
                </a:solidFill>
                <a:latin typeface="Segoe UI"/>
              </a:rPr>
              <a:t>N'expire jamais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F0906F"/>
                </a:solidFill>
                <a:latin typeface="Consolas"/>
              </a:rPr>
              <a:t>✕  </a:t>
            </a:r>
            <a:r>
              <a:rPr sz="1100" b="0" i="0">
                <a:solidFill>
                  <a:srgbClr val="9C9BBB"/>
                </a:solidFill>
                <a:latin typeface="Segoe UI"/>
              </a:rPr>
              <a:t>Rotation manuelle — donc oubliée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F0906F"/>
                </a:solidFill>
                <a:latin typeface="Consolas"/>
              </a:rPr>
              <a:t>✕  </a:t>
            </a:r>
            <a:r>
              <a:rPr sz="1100" b="0" i="0">
                <a:solidFill>
                  <a:srgbClr val="9C9BBB"/>
                </a:solidFill>
                <a:latin typeface="Segoe UI"/>
              </a:rPr>
              <a:t>Une fuite = accès permanent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40613" y="1874519"/>
            <a:ext cx="3253645" cy="2286000"/>
          </a:xfrm>
          <a:prstGeom prst="roundRect">
            <a:avLst>
              <a:gd name="adj" fmla="val 45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341781" y="2048256"/>
            <a:ext cx="285130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 i="0" spc="110">
                <a:solidFill>
                  <a:srgbClr val="4ACBB9"/>
                </a:solidFill>
                <a:latin typeface="Consolas"/>
              </a:rPr>
              <a:t>WORKLOAD IDENTITY FEDERATION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1781" y="2395728"/>
            <a:ext cx="2851309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4ACBB9"/>
                </a:solidFill>
                <a:latin typeface="Consolas"/>
              </a:rPr>
              <a:t>✓  </a:t>
            </a:r>
            <a:r>
              <a:rPr sz="1100" b="0" i="0">
                <a:solidFill>
                  <a:srgbClr val="9C9BBB"/>
                </a:solidFill>
                <a:latin typeface="Segoe UI"/>
              </a:rPr>
              <a:t>GitHub émet un jeton OIDC signé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4ACBB9"/>
                </a:solidFill>
                <a:latin typeface="Consolas"/>
              </a:rPr>
              <a:t>✓  </a:t>
            </a:r>
            <a:r>
              <a:rPr sz="1100" b="0" i="0">
                <a:solidFill>
                  <a:srgbClr val="9C9BBB"/>
                </a:solidFill>
                <a:latin typeface="Segoe UI"/>
              </a:rPr>
              <a:t>GCP l'échange contre un jeton court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4ACBB9"/>
                </a:solidFill>
                <a:latin typeface="Consolas"/>
              </a:rPr>
              <a:t>✓  </a:t>
            </a:r>
            <a:r>
              <a:rPr sz="1100" b="0" i="0">
                <a:solidFill>
                  <a:srgbClr val="9C9BBB"/>
                </a:solidFill>
                <a:latin typeface="Segoe UI"/>
              </a:rPr>
              <a:t>Aucune clé stockée nulle part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4ACBB9"/>
                </a:solidFill>
                <a:latin typeface="Consolas"/>
              </a:rPr>
              <a:t>✓  </a:t>
            </a:r>
            <a:r>
              <a:rPr sz="1100" b="0" i="0">
                <a:solidFill>
                  <a:srgbClr val="9C9BBB"/>
                </a:solidFill>
                <a:latin typeface="Segoe UI"/>
              </a:rPr>
              <a:t>Rien à faire tourner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4ACBB9"/>
                </a:solidFill>
                <a:latin typeface="Consolas"/>
              </a:rPr>
              <a:t>✓  </a:t>
            </a:r>
            <a:r>
              <a:rPr sz="1100" b="0" i="0">
                <a:solidFill>
                  <a:srgbClr val="9C9BBB"/>
                </a:solidFill>
                <a:latin typeface="Segoe UI"/>
              </a:rPr>
              <a:t>Restreint au seul repo autorisé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8579" y="1874519"/>
            <a:ext cx="38373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1" i="0" spc="110">
                <a:solidFill>
                  <a:srgbClr val="9C9BBB"/>
                </a:solidFill>
                <a:latin typeface="Consolas"/>
              </a:rPr>
              <a:t>LA CONDITION QUI VERROUILLE LE POOL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68579" y="2176272"/>
            <a:ext cx="3837316" cy="946403"/>
          </a:xfrm>
          <a:prstGeom prst="roundRect">
            <a:avLst>
              <a:gd name="adj" fmla="val 4500"/>
            </a:avLst>
          </a:prstGeom>
          <a:solidFill>
            <a:srgbClr val="1C2044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888035" y="2351836"/>
            <a:ext cx="3398404" cy="6391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000" b="0" i="0">
                <a:solidFill>
                  <a:srgbClr val="8B7BF0"/>
                </a:solidFill>
                <a:latin typeface="Consolas"/>
              </a:rPr>
              <a:t>--attribute-condition=</a:t>
            </a:r>
          </a:p>
          <a:p>
            <a:pPr>
              <a:lnSpc>
                <a:spcPct val="132000"/>
              </a:lnSpc>
            </a:pPr>
            <a:r>
              <a:rPr sz="1000" b="0" i="0">
                <a:solidFill>
                  <a:srgbClr val="4ACBB9"/>
                </a:solidFill>
                <a:latin typeface="Consolas"/>
              </a:rPr>
              <a:t>  "assertion.repository ==</a:t>
            </a:r>
          </a:p>
          <a:p>
            <a:pPr>
              <a:lnSpc>
                <a:spcPct val="132000"/>
              </a:lnSpc>
            </a:pPr>
            <a:r>
              <a:rPr sz="1000" b="0" i="0">
                <a:solidFill>
                  <a:srgbClr val="4ACBB9"/>
                </a:solidFill>
                <a:latin typeface="Consolas"/>
              </a:rPr>
              <a:t>   'Anis-adjaoud/lifeai-devops'"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8579" y="3323844"/>
            <a:ext cx="383731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9C9BBB"/>
                </a:solidFill>
                <a:latin typeface="Segoe UI"/>
              </a:rPr>
              <a:t>Même en connaissant le nom du service account, aucun autre dépôt GitHub ne peut l'emprunter.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43400"/>
            <a:ext cx="5295747" cy="822960"/>
          </a:xfrm>
          <a:prstGeom prst="roundRect">
            <a:avLst>
              <a:gd name="adj" fmla="val 45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86968" y="4526280"/>
            <a:ext cx="489341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 i="0" spc="120">
                <a:solidFill>
                  <a:srgbClr val="8B7BF0"/>
                </a:solidFill>
                <a:latin typeface="Consolas"/>
              </a:rPr>
              <a:t>MOINDRE PRIVILÈGE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818888"/>
            <a:ext cx="4893411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9C9BBB"/>
                </a:solidFill>
                <a:latin typeface="Segoe UI"/>
              </a:rPr>
              <a:t>8 rôles ciblés plutôt qu'un roles/editor générique.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0147" y="4343400"/>
            <a:ext cx="5295747" cy="822960"/>
          </a:xfrm>
          <a:prstGeom prst="roundRect">
            <a:avLst>
              <a:gd name="adj" fmla="val 45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11315" y="4526280"/>
            <a:ext cx="489341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 i="0" spc="120">
                <a:solidFill>
                  <a:srgbClr val="8B7BF0"/>
                </a:solidFill>
                <a:latin typeface="Consolas"/>
              </a:rPr>
              <a:t>SECRETS GÉNÉRÉS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1315" y="4818888"/>
            <a:ext cx="4893411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9C9BBB"/>
                </a:solidFill>
                <a:latin typeface="Segoe UI"/>
              </a:rPr>
              <a:t>Mot de passe DB et clés de session créés par Terraform — en clair nulle part.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257800"/>
            <a:ext cx="5295747" cy="822960"/>
          </a:xfrm>
          <a:prstGeom prst="roundRect">
            <a:avLst>
              <a:gd name="adj" fmla="val 45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86968" y="5440680"/>
            <a:ext cx="489341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 i="0" spc="120">
                <a:solidFill>
                  <a:srgbClr val="8B7BF0"/>
                </a:solidFill>
                <a:latin typeface="Consolas"/>
              </a:rPr>
              <a:t>BASE PRIVÉE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5733288"/>
            <a:ext cx="4893411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9C9BBB"/>
                </a:solidFill>
                <a:latin typeface="Segoe UI"/>
              </a:rPr>
              <a:t>Port 5432 ouvert au VPC interne et à la plage IAP uniquement.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0147" y="5257800"/>
            <a:ext cx="5295747" cy="822960"/>
          </a:xfrm>
          <a:prstGeom prst="roundRect">
            <a:avLst>
              <a:gd name="adj" fmla="val 45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11315" y="5440680"/>
            <a:ext cx="489341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 i="0" spc="120">
                <a:solidFill>
                  <a:srgbClr val="8B7BF0"/>
                </a:solidFill>
                <a:latin typeface="Consolas"/>
              </a:rPr>
              <a:t>STATE ISOLÉ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1315" y="5733288"/>
            <a:ext cx="4893411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9C9BBB"/>
                </a:solidFill>
                <a:latin typeface="Segoe UI"/>
              </a:rPr>
              <a:t>Bucket dédié, versionné, verrouillé pendant les opérations.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150">
                <a:solidFill>
                  <a:srgbClr val="8B7BF0"/>
                </a:solidFill>
                <a:latin typeface="Consolas"/>
              </a:rPr>
              <a:t>RETOUR D'EXPÉRIENCE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86384"/>
            <a:ext cx="10820095" cy="10972"/>
          </a:xfrm>
          <a:prstGeom prst="rect">
            <a:avLst/>
          </a:prstGeom>
          <a:solidFill>
            <a:srgbClr val="2B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 i="0">
                <a:solidFill>
                  <a:srgbClr val="EEEDF6"/>
                </a:solidFill>
                <a:latin typeface="Consolas"/>
              </a:rPr>
              <a:t>Ce qui a cassé, et pourquoi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72784"/>
            <a:ext cx="12191695" cy="10972"/>
          </a:xfrm>
          <a:prstGeom prst="rect">
            <a:avLst/>
          </a:prstGeom>
          <a:solidFill>
            <a:srgbClr val="2B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64224"/>
            <a:ext cx="757406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00">
                <a:solidFill>
                  <a:srgbClr val="9C9BBB"/>
                </a:solidFill>
                <a:latin typeface="Consolas"/>
              </a:rPr>
              <a:t>LifeAI  ·  Pipeline DevOps &amp; IaC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636422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C9BBB"/>
                </a:solidFill>
                <a:latin typeface="Consola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9197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9C9BBB"/>
                </a:solidFill>
                <a:latin typeface="Segoe UI"/>
              </a:rPr>
              <a:t>Cinq incidents ont jalonné la mise en place. Chacun a une cause identifiée et une correction versionnée dans le code — la CI reste reproductible.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14600"/>
            <a:ext cx="10820095" cy="603504"/>
          </a:xfrm>
          <a:prstGeom prst="roundRect">
            <a:avLst>
              <a:gd name="adj" fmla="val 45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85800" y="2514600"/>
            <a:ext cx="45720" cy="603504"/>
          </a:xfrm>
          <a:prstGeom prst="rect">
            <a:avLst/>
          </a:prstGeom>
          <a:solidFill>
            <a:srgbClr val="F09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697480"/>
            <a:ext cx="45444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F0906F"/>
                </a:solidFill>
                <a:latin typeface="Consolas"/>
              </a:rPr>
              <a:t>PERMISSION_DENIED sur le Workload Identity Pool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54842" y="2697480"/>
            <a:ext cx="573465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9C9BBB"/>
                </a:solidFill>
                <a:latin typeface="Segoe UI"/>
              </a:rPr>
              <a:t>→  Latence de propagation IAM après création du projet. Script idempotent, relancé.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00400"/>
            <a:ext cx="10820095" cy="603504"/>
          </a:xfrm>
          <a:prstGeom prst="roundRect">
            <a:avLst>
              <a:gd name="adj" fmla="val 45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85800" y="3200400"/>
            <a:ext cx="45720" cy="603504"/>
          </a:xfrm>
          <a:prstGeom prst="rect">
            <a:avLst/>
          </a:prstGeom>
          <a:solidFill>
            <a:srgbClr val="F09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383280"/>
            <a:ext cx="45444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F0906F"/>
                </a:solidFill>
                <a:latin typeface="Consolas"/>
              </a:rPr>
              <a:t>Artifact Registry API has not been used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4842" y="3383280"/>
            <a:ext cx="573465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9C9BBB"/>
                </a:solidFill>
                <a:latin typeface="Segoe UI"/>
              </a:rPr>
              <a:t>→  Le build poussait avant que Terraform ne crée le registry. D'où le job prepare-registry.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886200"/>
            <a:ext cx="10820095" cy="603504"/>
          </a:xfrm>
          <a:prstGeom prst="roundRect">
            <a:avLst>
              <a:gd name="adj" fmla="val 45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85800" y="3886200"/>
            <a:ext cx="45720" cy="603504"/>
          </a:xfrm>
          <a:prstGeom prst="rect">
            <a:avLst/>
          </a:prstGeom>
          <a:solidFill>
            <a:srgbClr val="F09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4069080"/>
            <a:ext cx="45444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F0906F"/>
                </a:solidFill>
                <a:latin typeface="Consolas"/>
              </a:rPr>
              <a:t>ZONE_RESOURCE_POOL_EXHAUSTED ×4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4842" y="4069080"/>
            <a:ext cx="573465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9C9BBB"/>
                </a:solidFill>
                <a:latin typeface="Segoe UI"/>
              </a:rPr>
              <a:t>→  Pénurie réelle d'e2-micro sur les 4 zones us-central1. Bascule sur us-west1-b.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572000"/>
            <a:ext cx="10820095" cy="603504"/>
          </a:xfrm>
          <a:prstGeom prst="roundRect">
            <a:avLst>
              <a:gd name="adj" fmla="val 45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85800" y="4572000"/>
            <a:ext cx="45720" cy="603504"/>
          </a:xfrm>
          <a:prstGeom prst="rect">
            <a:avLst/>
          </a:prstGeom>
          <a:solidFill>
            <a:srgbClr val="F09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4754880"/>
            <a:ext cx="45444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F0906F"/>
                </a:solidFill>
                <a:latin typeface="Consolas"/>
              </a:rPr>
              <a:t>run.services.setIamPolicy denied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54842" y="4754880"/>
            <a:ext cx="573465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9C9BBB"/>
                </a:solidFill>
                <a:latin typeface="Segoe UI"/>
              </a:rPr>
              <a:t>→  run.developer déploie mais ne pose pas de policy IAM. Remplacé par run.admin.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257800"/>
            <a:ext cx="10820095" cy="603504"/>
          </a:xfrm>
          <a:prstGeom prst="roundRect">
            <a:avLst>
              <a:gd name="adj" fmla="val 45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85800" y="5257800"/>
            <a:ext cx="45720" cy="603504"/>
          </a:xfrm>
          <a:prstGeom prst="rect">
            <a:avLst/>
          </a:prstGeom>
          <a:solidFill>
            <a:srgbClr val="F09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5440680"/>
            <a:ext cx="45444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F0906F"/>
                </a:solidFill>
                <a:latin typeface="Consolas"/>
              </a:rPr>
              <a:t>JSONDecodeError sur /auth/start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54842" y="5440680"/>
            <a:ext cx="573465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9C9BBB"/>
                </a:solidFill>
                <a:latin typeface="Segoe UI"/>
              </a:rPr>
              <a:t>→  Les guillemets du JSON OAuth cassaient le shell dans -var="…". Passé en TF_VAR_*.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98932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1">
                <a:solidFill>
                  <a:srgbClr val="EEEDF6"/>
                </a:solidFill>
                <a:latin typeface="Segoe UI"/>
              </a:rPr>
              <a:t>Le dernier est le plus instructif : la valeur était tronquée avant d'atteindre Terraform — l'infra était verte, l'erreur n'apparaissait qu'au runtime.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150">
                <a:solidFill>
                  <a:srgbClr val="8B7BF0"/>
                </a:solidFill>
                <a:latin typeface="Consolas"/>
              </a:rPr>
              <a:t>EXPLOITATION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86384"/>
            <a:ext cx="10820095" cy="10972"/>
          </a:xfrm>
          <a:prstGeom prst="rect">
            <a:avLst/>
          </a:prstGeom>
          <a:solidFill>
            <a:srgbClr val="2B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 i="0">
                <a:solidFill>
                  <a:srgbClr val="EEEDF6"/>
                </a:solidFill>
                <a:latin typeface="Consolas"/>
              </a:rPr>
              <a:t>Ce que ça coûte à faire tourner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72784"/>
            <a:ext cx="12191695" cy="10972"/>
          </a:xfrm>
          <a:prstGeom prst="rect">
            <a:avLst/>
          </a:prstGeom>
          <a:solidFill>
            <a:srgbClr val="2B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64224"/>
            <a:ext cx="757406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00">
                <a:solidFill>
                  <a:srgbClr val="9C9BBB"/>
                </a:solidFill>
                <a:latin typeface="Consolas"/>
              </a:rPr>
              <a:t>LifeAI  ·  Pipeline DevOps &amp; IaC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636422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C9BBB"/>
                </a:solidFill>
                <a:latin typeface="Consola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2554147" cy="1188720"/>
          </a:xfrm>
          <a:prstGeom prst="roundRect">
            <a:avLst>
              <a:gd name="adj" fmla="val 45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21518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1" i="0">
                <a:solidFill>
                  <a:srgbClr val="4ACBB9"/>
                </a:solidFill>
                <a:latin typeface="Consolas"/>
              </a:rPr>
              <a:t>~0 €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87752"/>
            <a:ext cx="21518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C9BBB"/>
                </a:solidFill>
                <a:latin typeface="Segoe UI"/>
              </a:rPr>
              <a:t>par mois, en usage démo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1115" y="1874519"/>
            <a:ext cx="2554147" cy="1188720"/>
          </a:xfrm>
          <a:prstGeom prst="roundRect">
            <a:avLst>
              <a:gd name="adj" fmla="val 45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642283" y="2039112"/>
            <a:ext cx="21518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1" i="0">
                <a:solidFill>
                  <a:srgbClr val="8B7BF0"/>
                </a:solidFill>
                <a:latin typeface="Consolas"/>
              </a:rPr>
              <a:t>0 →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2283" y="2587752"/>
            <a:ext cx="21518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C9BBB"/>
                </a:solidFill>
                <a:latin typeface="Segoe UI"/>
              </a:rPr>
              <a:t>instances Cloud Run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6431" y="1874519"/>
            <a:ext cx="2554147" cy="1188720"/>
          </a:xfrm>
          <a:prstGeom prst="roundRect">
            <a:avLst>
              <a:gd name="adj" fmla="val 45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97599" y="2039112"/>
            <a:ext cx="21518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1" i="0">
                <a:solidFill>
                  <a:srgbClr val="EEEDF6"/>
                </a:solidFill>
                <a:latin typeface="Consola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7599" y="2587752"/>
            <a:ext cx="21518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C9BBB"/>
                </a:solidFill>
                <a:latin typeface="Segoe UI"/>
              </a:rPr>
              <a:t>VM e2-micro — Always Free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1747" y="1874519"/>
            <a:ext cx="2554147" cy="1188720"/>
          </a:xfrm>
          <a:prstGeom prst="roundRect">
            <a:avLst>
              <a:gd name="adj" fmla="val 4500"/>
            </a:avLst>
          </a:prstGeom>
          <a:solidFill>
            <a:srgbClr val="151833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52915" y="2039112"/>
            <a:ext cx="21518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1" i="0">
                <a:solidFill>
                  <a:srgbClr val="EEEDF6"/>
                </a:solidFill>
                <a:latin typeface="Consolas"/>
              </a:rPr>
              <a:t>30 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2915" y="2587752"/>
            <a:ext cx="21518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C9BBB"/>
                </a:solidFill>
                <a:latin typeface="Segoe UI"/>
              </a:rPr>
              <a:t>disque, dans le quota gratuit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" y="3355848"/>
            <a:ext cx="398678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 i="0" spc="120">
                <a:solidFill>
                  <a:srgbClr val="9C9BBB"/>
                </a:solidFill>
                <a:latin typeface="Consolas"/>
              </a:rPr>
              <a:t>RESSOURCE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8344" y="3355848"/>
            <a:ext cx="63916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 i="0" spc="120">
                <a:solidFill>
                  <a:srgbClr val="9C9BBB"/>
                </a:solidFill>
                <a:latin typeface="Consolas"/>
              </a:rPr>
              <a:t>FACTURATION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646627"/>
            <a:ext cx="10820095" cy="10972"/>
          </a:xfrm>
          <a:prstGeom prst="rect">
            <a:avLst/>
          </a:prstGeom>
          <a:solidFill>
            <a:srgbClr val="2B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" y="3739896"/>
            <a:ext cx="398678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EEDF6"/>
                </a:solidFill>
                <a:latin typeface="Consolas"/>
              </a:rPr>
              <a:t>Cloud 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38344" y="3739896"/>
            <a:ext cx="63916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EEDF6"/>
                </a:solidFill>
                <a:latin typeface="Segoe UI"/>
              </a:rPr>
              <a:t>Scale-to-zero — aucun coût sans trafic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059936"/>
            <a:ext cx="10820095" cy="402336"/>
          </a:xfrm>
          <a:prstGeom prst="rect">
            <a:avLst/>
          </a:prstGeom>
          <a:solidFill>
            <a:srgbClr val="15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" y="4142232"/>
            <a:ext cx="398678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EEDF6"/>
                </a:solidFill>
                <a:latin typeface="Consolas"/>
              </a:rPr>
              <a:t>Compute Engine e2-micro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38344" y="4142232"/>
            <a:ext cx="63916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EEDF6"/>
                </a:solidFill>
                <a:latin typeface="Segoe UI"/>
              </a:rPr>
              <a:t>Always Free (1 instance/mois en us-west1)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" y="4544568"/>
            <a:ext cx="398678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EEDF6"/>
                </a:solidFill>
                <a:latin typeface="Consolas"/>
              </a:rPr>
              <a:t>Secret Manager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38344" y="4544568"/>
            <a:ext cx="63916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EEDF6"/>
                </a:solidFill>
                <a:latin typeface="Segoe UI"/>
              </a:rPr>
              <a:t>6 secrets — largement sous le palier gratuit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864608"/>
            <a:ext cx="10820095" cy="402336"/>
          </a:xfrm>
          <a:prstGeom prst="rect">
            <a:avLst/>
          </a:prstGeom>
          <a:solidFill>
            <a:srgbClr val="15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" y="4946904"/>
            <a:ext cx="398678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EEDF6"/>
                </a:solidFill>
                <a:latin typeface="Consolas"/>
              </a:rPr>
              <a:t>Cloud Scheduler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38344" y="4946904"/>
            <a:ext cx="63916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EEDF6"/>
                </a:solidFill>
                <a:latin typeface="Segoe UI"/>
              </a:rPr>
              <a:t>1 job — 3 gratuits par mois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5349240"/>
            <a:ext cx="398678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EEDF6"/>
                </a:solidFill>
                <a:latin typeface="Consolas"/>
              </a:rPr>
              <a:t>Artifact Registry · Cloud Storage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38344" y="5349240"/>
            <a:ext cx="63916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EEDF6"/>
                </a:solidFill>
                <a:latin typeface="Segoe UI"/>
              </a:rPr>
              <a:t>Quelques centaines de Mo — marginal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5669280"/>
            <a:ext cx="10820095" cy="402336"/>
          </a:xfrm>
          <a:prstGeom prst="rect">
            <a:avLst/>
          </a:prstGeom>
          <a:solidFill>
            <a:srgbClr val="15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" y="5751576"/>
            <a:ext cx="398678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EEDF6"/>
                </a:solidFill>
                <a:latin typeface="Consolas"/>
              </a:rPr>
              <a:t>GitHub Actions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38344" y="5751576"/>
            <a:ext cx="63916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EEEDF6"/>
                </a:solidFill>
                <a:latin typeface="Segoe UI"/>
              </a:rPr>
              <a:t>Inclus dans le quota du dépôt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5532120"/>
            <a:ext cx="10820095" cy="658368"/>
          </a:xfrm>
          <a:prstGeom prst="roundRect">
            <a:avLst>
              <a:gd name="adj" fmla="val 4500"/>
            </a:avLst>
          </a:prstGeom>
          <a:solidFill>
            <a:srgbClr val="1C2044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41832" y="5724144"/>
            <a:ext cx="1030803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9C9BBB"/>
                </a:solidFill>
                <a:latin typeface="Segoe UI"/>
              </a:rPr>
              <a:t>Le choix VM plutôt que Cloud SQL est assumé : Cloud SQL apporterait backups et bascule automatiques, contre 7 à 10 € par mois. Compromis documenté comme tel.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150">
                <a:solidFill>
                  <a:srgbClr val="8B7BF0"/>
                </a:solidFill>
                <a:latin typeface="Consolas"/>
              </a:rPr>
              <a:t>BILAN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86384"/>
            <a:ext cx="10820095" cy="10972"/>
          </a:xfrm>
          <a:prstGeom prst="rect">
            <a:avLst/>
          </a:prstGeom>
          <a:solidFill>
            <a:srgbClr val="2B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200" b="1" i="0">
                <a:solidFill>
                  <a:srgbClr val="EEEDF6"/>
                </a:solidFill>
                <a:latin typeface="Consolas"/>
              </a:rPr>
              <a:t>Ce qui a changé, ce qui reste à faire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72784"/>
            <a:ext cx="12191695" cy="10972"/>
          </a:xfrm>
          <a:prstGeom prst="rect">
            <a:avLst/>
          </a:prstGeom>
          <a:solidFill>
            <a:srgbClr val="2B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64224"/>
            <a:ext cx="757406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 spc="100">
                <a:solidFill>
                  <a:srgbClr val="9C9BBB"/>
                </a:solidFill>
                <a:latin typeface="Consolas"/>
              </a:rPr>
              <a:t>LifeAI  ·  Pipeline DevOps &amp; IaC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636422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50" b="0" i="0">
                <a:solidFill>
                  <a:srgbClr val="9C9BBB"/>
                </a:solidFill>
                <a:latin typeface="Consola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525002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 spc="140">
                <a:solidFill>
                  <a:srgbClr val="4ACBB9"/>
                </a:solidFill>
                <a:latin typeface="Consolas"/>
              </a:rPr>
              <a:t>ACQUIS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5250027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100"/>
              </a:spcAft>
            </a:pPr>
            <a:r>
              <a:rPr sz="977" b="0" i="0">
                <a:solidFill>
                  <a:srgbClr val="4ACBB9"/>
                </a:solidFill>
                <a:latin typeface="Consolas"/>
              </a:rPr>
              <a:t>✓  </a:t>
            </a:r>
            <a:r>
              <a:rPr sz="1150" b="1" i="0">
                <a:solidFill>
                  <a:srgbClr val="EEEDF6"/>
                </a:solidFill>
                <a:latin typeface="Segoe UI"/>
              </a:rPr>
              <a:t>Infra reproductible — </a:t>
            </a:r>
            <a:r>
              <a:rPr sz="1150" b="0" i="0">
                <a:solidFill>
                  <a:srgbClr val="9C9BBB"/>
                </a:solidFill>
                <a:latin typeface="Segoe UI"/>
              </a:rPr>
              <a:t>un bootstrap puis un push reconstruisent tout depuis zéro.</a:t>
            </a:r>
          </a:p>
          <a:p>
            <a:pPr>
              <a:lnSpc>
                <a:spcPct val="130000"/>
              </a:lnSpc>
              <a:spcAft>
                <a:spcPts val="1100"/>
              </a:spcAft>
            </a:pPr>
            <a:r>
              <a:rPr sz="977" b="0" i="0">
                <a:solidFill>
                  <a:srgbClr val="4ACBB9"/>
                </a:solidFill>
                <a:latin typeface="Consolas"/>
              </a:rPr>
              <a:t>✓  </a:t>
            </a:r>
            <a:r>
              <a:rPr sz="1150" b="1" i="0">
                <a:solidFill>
                  <a:srgbClr val="EEEDF6"/>
                </a:solidFill>
                <a:latin typeface="Segoe UI"/>
              </a:rPr>
              <a:t>Déploiement continu — </a:t>
            </a:r>
            <a:r>
              <a:rPr sz="1150" b="0" i="0">
                <a:solidFill>
                  <a:srgbClr val="9C9BBB"/>
                </a:solidFill>
                <a:latin typeface="Segoe UI"/>
              </a:rPr>
              <a:t>plus aucune commande gcloud tapée à la main.</a:t>
            </a:r>
          </a:p>
          <a:p>
            <a:pPr>
              <a:lnSpc>
                <a:spcPct val="130000"/>
              </a:lnSpc>
              <a:spcAft>
                <a:spcPts val="1100"/>
              </a:spcAft>
            </a:pPr>
            <a:r>
              <a:rPr sz="977" b="0" i="0">
                <a:solidFill>
                  <a:srgbClr val="4ACBB9"/>
                </a:solidFill>
                <a:latin typeface="Consolas"/>
              </a:rPr>
              <a:t>✓  </a:t>
            </a:r>
            <a:r>
              <a:rPr sz="1150" b="1" i="0">
                <a:solidFill>
                  <a:srgbClr val="EEEDF6"/>
                </a:solidFill>
                <a:latin typeface="Segoe UI"/>
              </a:rPr>
              <a:t>Zéro clé long-lived — </a:t>
            </a:r>
            <a:r>
              <a:rPr sz="1150" b="0" i="0">
                <a:solidFill>
                  <a:srgbClr val="9C9BBB"/>
                </a:solidFill>
                <a:latin typeface="Segoe UI"/>
              </a:rPr>
              <a:t>l'authentification CI n'a rien à faire fuiter.</a:t>
            </a:r>
          </a:p>
          <a:p>
            <a:pPr>
              <a:lnSpc>
                <a:spcPct val="130000"/>
              </a:lnSpc>
              <a:spcAft>
                <a:spcPts val="1100"/>
              </a:spcAft>
            </a:pPr>
            <a:r>
              <a:rPr sz="977" b="0" i="0">
                <a:solidFill>
                  <a:srgbClr val="4ACBB9"/>
                </a:solidFill>
                <a:latin typeface="Consolas"/>
              </a:rPr>
              <a:t>✓  </a:t>
            </a:r>
            <a:r>
              <a:rPr sz="1150" b="1" i="0">
                <a:solidFill>
                  <a:srgbClr val="EEEDF6"/>
                </a:solidFill>
                <a:latin typeface="Segoe UI"/>
              </a:rPr>
              <a:t>Traçabilité — </a:t>
            </a:r>
            <a:r>
              <a:rPr sz="1150" b="0" i="0">
                <a:solidFill>
                  <a:srgbClr val="9C9BBB"/>
                </a:solidFill>
                <a:latin typeface="Segoe UI"/>
              </a:rPr>
              <a:t>chaque révision en production remonte à un commit.</a:t>
            </a:r>
          </a:p>
          <a:p>
            <a:pPr>
              <a:lnSpc>
                <a:spcPct val="130000"/>
              </a:lnSpc>
              <a:spcAft>
                <a:spcPts val="1100"/>
              </a:spcAft>
            </a:pPr>
            <a:r>
              <a:rPr sz="977" b="0" i="0">
                <a:solidFill>
                  <a:srgbClr val="4ACBB9"/>
                </a:solidFill>
                <a:latin typeface="Consolas"/>
              </a:rPr>
              <a:t>✓  </a:t>
            </a:r>
            <a:r>
              <a:rPr sz="1150" b="1" i="0">
                <a:solidFill>
                  <a:srgbClr val="EEEDF6"/>
                </a:solidFill>
                <a:latin typeface="Segoe UI"/>
              </a:rPr>
              <a:t>Isolation complète — </a:t>
            </a:r>
            <a:r>
              <a:rPr sz="1150" b="0" i="0">
                <a:solidFill>
                  <a:srgbClr val="9C9BBB"/>
                </a:solidFill>
                <a:latin typeface="Segoe UI"/>
              </a:rPr>
              <a:t>le projet noté n'est jamais exposé aux essais.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5867" y="1874519"/>
            <a:ext cx="525002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 spc="140">
                <a:solidFill>
                  <a:srgbClr val="F0906F"/>
                </a:solidFill>
                <a:latin typeface="Consolas"/>
              </a:rPr>
              <a:t>LIMITES ASSUMÉES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5867" y="2240280"/>
            <a:ext cx="5250027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100"/>
              </a:spcAft>
            </a:pPr>
            <a:r>
              <a:rPr sz="977" b="0" i="0">
                <a:solidFill>
                  <a:srgbClr val="F0906F"/>
                </a:solidFill>
                <a:latin typeface="Consolas"/>
              </a:rPr>
              <a:t>▪  </a:t>
            </a:r>
            <a:r>
              <a:rPr sz="1150" b="1" i="0">
                <a:solidFill>
                  <a:srgbClr val="EEEDF6"/>
                </a:solidFill>
                <a:latin typeface="Segoe UI"/>
              </a:rPr>
              <a:t>Postgres sur VM — </a:t>
            </a:r>
            <a:r>
              <a:rPr sz="1150" b="0" i="0">
                <a:solidFill>
                  <a:srgbClr val="9C9BBB"/>
                </a:solidFill>
                <a:latin typeface="Segoe UI"/>
              </a:rPr>
              <a:t>pas de backup automatique. Cloud SQL si usage réel.</a:t>
            </a:r>
          </a:p>
          <a:p>
            <a:pPr>
              <a:lnSpc>
                <a:spcPct val="130000"/>
              </a:lnSpc>
              <a:spcAft>
                <a:spcPts val="1100"/>
              </a:spcAft>
            </a:pPr>
            <a:r>
              <a:rPr sz="977" b="0" i="0">
                <a:solidFill>
                  <a:srgbClr val="F0906F"/>
                </a:solidFill>
                <a:latin typeface="Consolas"/>
              </a:rPr>
              <a:t>▪  </a:t>
            </a:r>
            <a:r>
              <a:rPr sz="1150" b="1" i="0">
                <a:solidFill>
                  <a:srgbClr val="EEEDF6"/>
                </a:solidFill>
                <a:latin typeface="Segoe UI"/>
              </a:rPr>
              <a:t>Un seul environnement — </a:t>
            </a:r>
            <a:r>
              <a:rPr sz="1150" b="0" i="0">
                <a:solidFill>
                  <a:srgbClr val="9C9BBB"/>
                </a:solidFill>
                <a:latin typeface="Segoe UI"/>
              </a:rPr>
              <a:t>pas de staging distinct de la production.</a:t>
            </a:r>
          </a:p>
          <a:p>
            <a:pPr>
              <a:lnSpc>
                <a:spcPct val="130000"/>
              </a:lnSpc>
              <a:spcAft>
                <a:spcPts val="1100"/>
              </a:spcAft>
            </a:pPr>
            <a:r>
              <a:rPr sz="977" b="0" i="0">
                <a:solidFill>
                  <a:srgbClr val="F0906F"/>
                </a:solidFill>
                <a:latin typeface="Consolas"/>
              </a:rPr>
              <a:t>▪  </a:t>
            </a:r>
            <a:r>
              <a:rPr sz="1150" b="1" i="0">
                <a:solidFill>
                  <a:srgbClr val="EEEDF6"/>
                </a:solidFill>
                <a:latin typeface="Segoe UI"/>
              </a:rPr>
              <a:t>Pas de tests en CI — </a:t>
            </a:r>
            <a:r>
              <a:rPr sz="1150" b="0" i="0">
                <a:solidFill>
                  <a:srgbClr val="9C9BBB"/>
                </a:solidFill>
                <a:latin typeface="Segoe UI"/>
              </a:rPr>
              <a:t>terraform fmt/validate et tests applicatifs à ajouter.</a:t>
            </a:r>
          </a:p>
          <a:p>
            <a:pPr>
              <a:lnSpc>
                <a:spcPct val="130000"/>
              </a:lnSpc>
              <a:spcAft>
                <a:spcPts val="1100"/>
              </a:spcAft>
            </a:pPr>
            <a:r>
              <a:rPr sz="977" b="0" i="0">
                <a:solidFill>
                  <a:srgbClr val="F0906F"/>
                </a:solidFill>
                <a:latin typeface="Consolas"/>
              </a:rPr>
              <a:t>▪  </a:t>
            </a:r>
            <a:r>
              <a:rPr sz="1150" b="1" i="0">
                <a:solidFill>
                  <a:srgbClr val="EEEDF6"/>
                </a:solidFill>
                <a:latin typeface="Segoe UI"/>
              </a:rPr>
              <a:t>Pas d'alerting — </a:t>
            </a:r>
            <a:r>
              <a:rPr sz="1150" b="0" i="0">
                <a:solidFill>
                  <a:srgbClr val="9C9BBB"/>
                </a:solidFill>
                <a:latin typeface="Segoe UI"/>
              </a:rPr>
              <a:t>ni budget GCP, ni notification d'échec du job planifié.</a:t>
            </a:r>
          </a:p>
          <a:p>
            <a:pPr>
              <a:lnSpc>
                <a:spcPct val="130000"/>
              </a:lnSpc>
              <a:spcAft>
                <a:spcPts val="1100"/>
              </a:spcAft>
            </a:pPr>
            <a:r>
              <a:rPr sz="977" b="0" i="0">
                <a:solidFill>
                  <a:srgbClr val="F0906F"/>
                </a:solidFill>
                <a:latin typeface="Consolas"/>
              </a:rPr>
              <a:t>▪  </a:t>
            </a:r>
            <a:r>
              <a:rPr sz="1150" b="1" i="0">
                <a:solidFill>
                  <a:srgbClr val="EEEDF6"/>
                </a:solidFill>
                <a:latin typeface="Segoe UI"/>
              </a:rPr>
              <a:t>OAuth en mode test — </a:t>
            </a:r>
            <a:r>
              <a:rPr sz="1150" b="0" i="0">
                <a:solidFill>
                  <a:srgbClr val="9C9BBB"/>
                </a:solidFill>
                <a:latin typeface="Segoe UI"/>
              </a:rPr>
              <a:t>liste d'utilisateurs déclarés explicitement.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5715000"/>
            <a:ext cx="10820095" cy="10972"/>
          </a:xfrm>
          <a:prstGeom prst="rect">
            <a:avLst/>
          </a:prstGeom>
          <a:solidFill>
            <a:srgbClr val="2B3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87044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C9BBB"/>
                </a:solidFill>
                <a:latin typeface="Consolas"/>
              </a:rPr>
              <a:t>Documentation :  docs/dossier-technique.md   ·   docs/pipeline-devops.md   ·   docs/architecture-devops.drawio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7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820095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EEEDF6"/>
                </a:solidFill>
                <a:latin typeface="Consolas"/>
              </a:rPr>
              <a:t>Démonstration
&amp;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154680"/>
            <a:ext cx="779046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9C9BBB"/>
                </a:solidFill>
                <a:latin typeface="Segoe UI"/>
              </a:rPr>
              <a:t>Modifier une ligne de code, la pousser sur main, et regarder les trois jobs reconstruire et redéployer l'application — sans toucher à une seule commande gcloud.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977639"/>
            <a:ext cx="10820095" cy="1563624"/>
          </a:xfrm>
          <a:prstGeom prst="roundRect">
            <a:avLst>
              <a:gd name="adj" fmla="val 4500"/>
            </a:avLst>
          </a:prstGeom>
          <a:solidFill>
            <a:srgbClr val="1C2044"/>
          </a:solidFill>
          <a:ln w="12700">
            <a:solidFill>
              <a:srgbClr val="2B30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05256" y="4153204"/>
            <a:ext cx="10381183" cy="12563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 b="0" i="0">
                <a:solidFill>
                  <a:srgbClr val="EEEDF6"/>
                </a:solidFill>
                <a:latin typeface="Consolas"/>
              </a:rPr>
              <a:t>$ git push origin main</a:t>
            </a:r>
          </a:p>
          <a:p>
            <a:pPr>
              <a:lnSpc>
                <a:spcPct val="132000"/>
              </a:lnSpc>
            </a:pPr>
            <a:r>
              <a:rPr sz="1200" b="0" i="0">
                <a:solidFill>
                  <a:srgbClr val="EEEDF6"/>
                </a:solidFill>
                <a:latin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 b="0" i="0">
                <a:solidFill>
                  <a:srgbClr val="9C9BBB"/>
                </a:solidFill>
                <a:latin typeface="Consolas"/>
              </a:rPr>
              <a:t>→ prepare-registry</a:t>
            </a:r>
            <a:r>
              <a:rPr sz="1200" b="0" i="0">
                <a:solidFill>
                  <a:srgbClr val="4ACBB9"/>
                </a:solidFill>
                <a:latin typeface="Consolas"/>
              </a:rPr>
              <a:t>  ✓</a:t>
            </a:r>
          </a:p>
          <a:p>
            <a:pPr>
              <a:lnSpc>
                <a:spcPct val="132000"/>
              </a:lnSpc>
            </a:pPr>
            <a:r>
              <a:rPr sz="1200" b="0" i="0">
                <a:solidFill>
                  <a:srgbClr val="9C9BBB"/>
                </a:solidFill>
                <a:latin typeface="Consolas"/>
              </a:rPr>
              <a:t>→ build</a:t>
            </a:r>
            <a:r>
              <a:rPr sz="1200" b="0" i="0">
                <a:solidFill>
                  <a:srgbClr val="4ACBB9"/>
                </a:solidFill>
                <a:latin typeface="Consolas"/>
              </a:rPr>
              <a:t>             ✓</a:t>
            </a:r>
            <a:r>
              <a:rPr sz="1200" b="0" i="0">
                <a:solidFill>
                  <a:srgbClr val="9C9BBB"/>
                </a:solidFill>
                <a:latin typeface="Consolas"/>
              </a:rPr>
              <a:t>  image poussée · tag = SHA du commit</a:t>
            </a:r>
          </a:p>
          <a:p>
            <a:pPr>
              <a:lnSpc>
                <a:spcPct val="132000"/>
              </a:lnSpc>
            </a:pPr>
            <a:r>
              <a:rPr sz="1200" b="0" i="0">
                <a:solidFill>
                  <a:srgbClr val="9C9BBB"/>
                </a:solidFill>
                <a:latin typeface="Consolas"/>
              </a:rPr>
              <a:t>→ deploy</a:t>
            </a:r>
            <a:r>
              <a:rPr sz="1200" b="0" i="0">
                <a:solidFill>
                  <a:srgbClr val="4ACBB9"/>
                </a:solidFill>
                <a:latin typeface="Consolas"/>
              </a:rPr>
              <a:t>            ✓</a:t>
            </a:r>
            <a:r>
              <a:rPr sz="1200" b="0" i="0">
                <a:solidFill>
                  <a:srgbClr val="EEEDF6"/>
                </a:solidFill>
                <a:latin typeface="Consolas"/>
              </a:rPr>
              <a:t>  Apply complete. 0 added, 1 changed, 0 destroyed.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897880"/>
            <a:ext cx="2770632" cy="310896"/>
          </a:xfrm>
          <a:prstGeom prst="roundRect">
            <a:avLst>
              <a:gd name="adj" fmla="val 50000"/>
            </a:avLst>
          </a:prstGeom>
          <a:solidFill>
            <a:srgbClr val="151833"/>
          </a:solidFill>
          <a:ln w="12700">
            <a:solidFill>
              <a:srgbClr val="4ACB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 spc="60">
                <a:solidFill>
                  <a:srgbClr val="4ACBB9"/>
                </a:solidFill>
                <a:latin typeface="Consolas"/>
              </a:rPr>
              <a:t>Infrastructure as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21024" y="5897880"/>
            <a:ext cx="2455164" cy="310896"/>
          </a:xfrm>
          <a:prstGeom prst="roundRect">
            <a:avLst>
              <a:gd name="adj" fmla="val 50000"/>
            </a:avLst>
          </a:prstGeom>
          <a:solidFill>
            <a:srgbClr val="151833"/>
          </a:solidFill>
          <a:ln w="12700">
            <a:solidFill>
              <a:srgbClr val="4ACB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 spc="60">
                <a:solidFill>
                  <a:srgbClr val="4ACBB9"/>
                </a:solidFill>
                <a:latin typeface="Consolas"/>
              </a:rPr>
              <a:t>Déploiement continu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80" y="5897880"/>
            <a:ext cx="3086100" cy="310896"/>
          </a:xfrm>
          <a:prstGeom prst="roundRect">
            <a:avLst>
              <a:gd name="adj" fmla="val 50000"/>
            </a:avLst>
          </a:prstGeom>
          <a:solidFill>
            <a:srgbClr val="151833"/>
          </a:solidFill>
          <a:ln w="12700">
            <a:solidFill>
              <a:srgbClr val="4ACB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 spc="60">
                <a:solidFill>
                  <a:srgbClr val="4ACBB9"/>
                </a:solidFill>
                <a:latin typeface="Consolas"/>
              </a:rPr>
              <a:t>Authentification sans clé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91472" y="5897880"/>
            <a:ext cx="1824228" cy="310896"/>
          </a:xfrm>
          <a:prstGeom prst="roundRect">
            <a:avLst>
              <a:gd name="adj" fmla="val 50000"/>
            </a:avLst>
          </a:prstGeom>
          <a:solidFill>
            <a:srgbClr val="151833"/>
          </a:solidFill>
          <a:ln w="12700">
            <a:solidFill>
              <a:srgbClr val="4ACB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 i="0" spc="60">
                <a:solidFill>
                  <a:srgbClr val="4ACBB9"/>
                </a:solidFill>
                <a:latin typeface="Consolas"/>
              </a:rPr>
              <a:t>Coût maîtrisé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